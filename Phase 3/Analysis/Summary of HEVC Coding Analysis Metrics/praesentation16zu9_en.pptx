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5" r:id="rId2"/>
    <p:sldMasterId id="2147483661" r:id="rId3"/>
  </p:sldMasterIdLst>
  <p:notesMasterIdLst>
    <p:notesMasterId r:id="rId17"/>
  </p:notesMasterIdLst>
  <p:sldIdLst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0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8"/>
  </p:normalViewPr>
  <p:slideViewPr>
    <p:cSldViewPr>
      <p:cViewPr varScale="1">
        <p:scale>
          <a:sx n="141" d="100"/>
          <a:sy n="141" d="100"/>
        </p:scale>
        <p:origin x="744" y="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7D375-95CF-44BC-B7FF-A1702E2C728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28928-0A2A-41C7-9EFD-40912034F71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95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828928-0A2A-41C7-9EFD-40912034F71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101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7022" y="4083918"/>
            <a:ext cx="1227466" cy="72007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765375"/>
            <a:ext cx="7772400" cy="81448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1691680" y="3603669"/>
            <a:ext cx="57606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Mustermann</a:t>
            </a:r>
          </a:p>
          <a:p>
            <a:pPr algn="ctr"/>
            <a: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max.mustermann@lnt.de </a:t>
            </a:r>
            <a:br>
              <a:rPr lang="de-DE" sz="16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Chair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of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Multimedia Communications</a:t>
            </a:r>
          </a:p>
          <a:p>
            <a:pPr algn="ctr"/>
            <a:r>
              <a:rPr lang="de-DE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and</a:t>
            </a:r>
            <a:r>
              <a:rPr lang="de-DE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Signal Processing</a:t>
            </a:r>
            <a:endParaRPr lang="de-DE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Line 11"/>
          <p:cNvSpPr>
            <a:spLocks noChangeShapeType="1"/>
          </p:cNvSpPr>
          <p:nvPr userDrawn="1"/>
        </p:nvSpPr>
        <p:spPr bwMode="auto">
          <a:xfrm>
            <a:off x="208028" y="4803998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85028" y="4859561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F63B1-5C25-FACA-4512-59447E8B3C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155957"/>
            <a:ext cx="1383091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494410"/>
            <a:ext cx="7772400" cy="1021556"/>
          </a:xfrm>
        </p:spPr>
        <p:txBody>
          <a:bodyPr anchor="t">
            <a:noAutofit/>
          </a:bodyPr>
          <a:lstStyle>
            <a:lvl1pPr algn="l">
              <a:defRPr sz="2800" b="1" cap="all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789336"/>
            <a:ext cx="7772400" cy="718518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86" b="8314"/>
          <a:stretch/>
        </p:blipFill>
        <p:spPr>
          <a:xfrm>
            <a:off x="0" y="0"/>
            <a:ext cx="9153525" cy="2789336"/>
          </a:xfrm>
          <a:prstGeom prst="rect">
            <a:avLst/>
          </a:prstGeom>
        </p:spPr>
      </p:pic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3893A-BF9F-DC2B-56B8-977C4F9BFF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26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571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sp>
        <p:nvSpPr>
          <p:cNvPr id="11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4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7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C6B807-B00B-B381-C566-147A00EB4A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5549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987575"/>
            <a:ext cx="4038600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21373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15566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419623"/>
            <a:ext cx="4040188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915566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1419623"/>
            <a:ext cx="4041775" cy="30243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1488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67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748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666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32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513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0339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2012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703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0537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323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9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92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0181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3478"/>
            <a:ext cx="8229600" cy="565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987575"/>
            <a:ext cx="8229600" cy="3384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>
            <a:off x="213020" y="699542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" name="Line 12"/>
          <p:cNvSpPr>
            <a:spLocks noChangeShapeType="1"/>
          </p:cNvSpPr>
          <p:nvPr userDrawn="1"/>
        </p:nvSpPr>
        <p:spPr bwMode="auto">
          <a:xfrm>
            <a:off x="290020" y="755105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1" name="Textfeld 10"/>
          <p:cNvSpPr txBox="1"/>
          <p:nvPr userDrawn="1"/>
        </p:nvSpPr>
        <p:spPr>
          <a:xfrm>
            <a:off x="2373260" y="4815031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Chair of Multimedia Communications and Signal Processing</a:t>
            </a:r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feld 13"/>
          <p:cNvSpPr txBox="1"/>
          <p:nvPr userDrawn="1"/>
        </p:nvSpPr>
        <p:spPr>
          <a:xfrm>
            <a:off x="2368627" y="4579757"/>
            <a:ext cx="4392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Author</a:t>
            </a:r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: Short Title</a:t>
            </a:r>
          </a:p>
        </p:txBody>
      </p:sp>
      <p:sp>
        <p:nvSpPr>
          <p:cNvPr id="15" name="Textfeld 14"/>
          <p:cNvSpPr txBox="1"/>
          <p:nvPr userDrawn="1"/>
        </p:nvSpPr>
        <p:spPr>
          <a:xfrm>
            <a:off x="7020272" y="4579955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18.05.2014</a:t>
            </a:r>
          </a:p>
        </p:txBody>
      </p:sp>
      <p:sp>
        <p:nvSpPr>
          <p:cNvPr id="16" name="Textfeld 15"/>
          <p:cNvSpPr txBox="1"/>
          <p:nvPr userDrawn="1"/>
        </p:nvSpPr>
        <p:spPr>
          <a:xfrm>
            <a:off x="6876256" y="4823248"/>
            <a:ext cx="1080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Page </a:t>
            </a:r>
            <a:fld id="{AF634817-4550-4D34-8501-C09E3EF797D6}" type="slidenum">
              <a:rPr lang="de-DE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de-DE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Line 11"/>
          <p:cNvSpPr>
            <a:spLocks noChangeShapeType="1"/>
          </p:cNvSpPr>
          <p:nvPr userDrawn="1"/>
        </p:nvSpPr>
        <p:spPr bwMode="auto">
          <a:xfrm>
            <a:off x="208028" y="4515966"/>
            <a:ext cx="864096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8" name="Line 12"/>
          <p:cNvSpPr>
            <a:spLocks noChangeShapeType="1"/>
          </p:cNvSpPr>
          <p:nvPr userDrawn="1"/>
        </p:nvSpPr>
        <p:spPr bwMode="auto">
          <a:xfrm>
            <a:off x="285028" y="4571529"/>
            <a:ext cx="8640960" cy="0"/>
          </a:xfrm>
          <a:prstGeom prst="line">
            <a:avLst/>
          </a:prstGeom>
          <a:noFill/>
          <a:ln w="28575">
            <a:solidFill>
              <a:srgbClr val="9999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78" y="4587974"/>
            <a:ext cx="859132" cy="504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869B99-5B28-02D2-2F9B-CC8E650887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8" y="4632247"/>
            <a:ext cx="1123762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0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ine 11"/>
          <p:cNvSpPr/>
          <p:nvPr/>
        </p:nvSpPr>
        <p:spPr>
          <a:xfrm>
            <a:off x="212760" y="69948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Line 12"/>
          <p:cNvSpPr/>
          <p:nvPr/>
        </p:nvSpPr>
        <p:spPr>
          <a:xfrm>
            <a:off x="289800" y="75492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Textfeld 10"/>
          <p:cNvSpPr/>
          <p:nvPr/>
        </p:nvSpPr>
        <p:spPr>
          <a:xfrm>
            <a:off x="2373120" y="481500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6" name="Textfeld 13"/>
          <p:cNvSpPr/>
          <p:nvPr/>
        </p:nvSpPr>
        <p:spPr>
          <a:xfrm>
            <a:off x="2368800" y="4579920"/>
            <a:ext cx="439056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Lokeshwar: HiWi- SVT-AV1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7" name="Textfeld 14"/>
          <p:cNvSpPr/>
          <p:nvPr/>
        </p:nvSpPr>
        <p:spPr>
          <a:xfrm>
            <a:off x="7020360" y="4579920"/>
            <a:ext cx="93420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26.06.2025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48" name="Textfeld 15"/>
          <p:cNvSpPr/>
          <p:nvPr/>
        </p:nvSpPr>
        <p:spPr>
          <a:xfrm>
            <a:off x="6876360" y="4823280"/>
            <a:ext cx="1078200" cy="4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Page </a:t>
            </a:r>
            <a:fld id="{F3136AC0-EF8E-4720-9D4A-784EA8153A0A}" type="slidenum">
              <a:rPr lang="de-DE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49" name="Line 11"/>
          <p:cNvSpPr/>
          <p:nvPr/>
        </p:nvSpPr>
        <p:spPr>
          <a:xfrm>
            <a:off x="207720" y="4515840"/>
            <a:ext cx="8641080" cy="360"/>
          </a:xfrm>
          <a:prstGeom prst="line">
            <a:avLst/>
          </a:prstGeom>
          <a:ln w="28440">
            <a:solidFill>
              <a:srgbClr val="CC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Line 12"/>
          <p:cNvSpPr/>
          <p:nvPr/>
        </p:nvSpPr>
        <p:spPr>
          <a:xfrm>
            <a:off x="284760" y="4571280"/>
            <a:ext cx="8641080" cy="360"/>
          </a:xfrm>
          <a:prstGeom prst="line">
            <a:avLst/>
          </a:prstGeom>
          <a:ln w="28440">
            <a:solidFill>
              <a:srgbClr val="99999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51" name="Grafik 18"/>
          <p:cNvPicPr/>
          <p:nvPr/>
        </p:nvPicPr>
        <p:blipFill>
          <a:blip r:embed="rId14"/>
          <a:stretch/>
        </p:blipFill>
        <p:spPr>
          <a:xfrm>
            <a:off x="8076600" y="4587840"/>
            <a:ext cx="857160" cy="502200"/>
          </a:xfrm>
          <a:prstGeom prst="rect">
            <a:avLst/>
          </a:prstGeom>
          <a:ln w="0">
            <a:noFill/>
          </a:ln>
        </p:spPr>
      </p:pic>
      <p:pic>
        <p:nvPicPr>
          <p:cNvPr id="52" name="Picture 20"/>
          <p:cNvPicPr/>
          <p:nvPr/>
        </p:nvPicPr>
        <p:blipFill>
          <a:blip r:embed="rId15"/>
          <a:stretch/>
        </p:blipFill>
        <p:spPr>
          <a:xfrm>
            <a:off x="285120" y="4632120"/>
            <a:ext cx="1122120" cy="46620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18057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Master Thesis - Update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C86D9-BA41-3C80-E0CE-5C5E29D3BFD5}"/>
              </a:ext>
            </a:extLst>
          </p:cNvPr>
          <p:cNvSpPr/>
          <p:nvPr/>
        </p:nvSpPr>
        <p:spPr>
          <a:xfrm>
            <a:off x="1691680" y="3579862"/>
            <a:ext cx="6048672" cy="1152128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altLang="zh-CN" spc="-1" dirty="0">
                <a:solidFill>
                  <a:srgbClr val="808080"/>
                </a:solidFill>
                <a:latin typeface="Calibri"/>
              </a:rPr>
              <a:t>Yun Shang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</a:rPr>
              <a:t>yun.shang@fau.de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808080"/>
                </a:solidFill>
                <a:latin typeface="Calibri"/>
                <a:ea typeface="DejaVu Sans"/>
              </a:rPr>
              <a:t>Chair of Multimedia Communications and Signal Processing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7835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CONTENT</a:t>
            </a:r>
            <a:endParaRPr kumimoji="0" lang="en-US" sz="2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34" name="Inhaltsplatzhalter 2"/>
          <p:cNvSpPr/>
          <p:nvPr/>
        </p:nvSpPr>
        <p:spPr>
          <a:xfrm>
            <a:off x="457200" y="987480"/>
            <a:ext cx="8363272" cy="338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Tools Used: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1. Software Encoder: x265 and Hardware Encoder</a:t>
            </a:r>
            <a:r>
              <a:rPr kumimoji="0" lang="fr-FR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: NVIDIA Jetson Orin NX (8GB)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2. Dataset- AOM Class 1 &amp; 2, 8-bit video sequence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	3. VQ Analyzer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en-US" altLang="zh-CN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the first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 </a:t>
            </a:r>
            <a:r>
              <a:rPr lang="en-US" altLang="zh-CN" spc="-1" dirty="0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rames for each video 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sequence, SWE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nc</a:t>
            </a:r>
            <a:r>
              <a:rPr lang="de-DE" spc="-1" dirty="0">
                <a:solidFill>
                  <a:srgbClr val="000000"/>
                </a:solidFill>
                <a:latin typeface="Calibri"/>
              </a:rPr>
              <a:t> preset(ultrafast, superfast, veryfast, faster, fast, medium) and HWEnc  preset</a:t>
            </a:r>
            <a:r>
              <a:rPr lang="en-US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slow,medium,fast,ultrafast)</a:t>
            </a: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 lvl="0">
              <a:spcBef>
                <a:spcPts val="360"/>
              </a:spcBef>
              <a:tabLst>
                <a:tab pos="0" algn="l"/>
              </a:tabLst>
            </a:pPr>
            <a:r>
              <a:rPr kumimoji="0" lang="en-US" sz="1800" b="0" i="0" u="none" strike="noStrike" kern="1200" cap="none" spc="-1" normalizeH="0" baseline="0" noProof="0" dirty="0">
                <a:ln>
                  <a:noFill/>
                </a:ln>
                <a:solidFill>
                  <a:srgbClr val="CD3333"/>
                </a:solidFill>
                <a:effectLst/>
                <a:uLnTx/>
                <a:uFillTx/>
                <a:latin typeface="MSAM10"/>
                <a:ea typeface="DejaVu Sans"/>
              </a:rPr>
              <a:t>▶ 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QP value-</a:t>
            </a:r>
            <a:r>
              <a:rPr lang="de-DE" altLang="zh-CN" spc="-1" dirty="0">
                <a:solidFill>
                  <a:srgbClr val="000000"/>
                </a:solidFill>
                <a:latin typeface="Calibri"/>
              </a:rPr>
              <a:t> SWEnc&amp;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HWEnc(</a:t>
            </a:r>
            <a:r>
              <a:rPr lang="en-US" altLang="zh-CN" dirty="0"/>
              <a:t>22, 27, 32, 37</a:t>
            </a:r>
            <a:r>
              <a:rPr kumimoji="0" lang="de-DE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DejaVu Sans"/>
              </a:rPr>
              <a:t>)</a:t>
            </a:r>
            <a:endParaRPr kumimoji="0" lang="en-US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/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EADB297-1C23-70EC-1EB1-D58E4DAEC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23796"/>
              </p:ext>
            </p:extLst>
          </p:nvPr>
        </p:nvGraphicFramePr>
        <p:xfrm>
          <a:off x="178613" y="915566"/>
          <a:ext cx="8784973" cy="339502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23412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220613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64x16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48x64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231096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264983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237175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260213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250390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32x8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24x32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469293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446333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430898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694948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512512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513219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449482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16x4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12x16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966658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996722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996653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987371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668536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833956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1246072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8x4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11649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 sizes: 4x4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2121256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2075516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1981876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2147384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2147424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5BA94-7ED3-9802-EE44-442C8078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A6F74A1E-AA15-B9F6-875F-E70576B55B58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Luma Modes</a:t>
            </a:r>
            <a:endParaRPr lang="en-US" altLang="zh-CN" sz="2800" spc="-1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C367F90-41EE-25F4-0274-D7AB0A8BD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658421"/>
              </p:ext>
            </p:extLst>
          </p:nvPr>
        </p:nvGraphicFramePr>
        <p:xfrm>
          <a:off x="179513" y="915566"/>
          <a:ext cx="8784973" cy="401637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8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7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1194704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1161053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1109026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226071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908755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460769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635099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614458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591388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164741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502525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312504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437061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60607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58328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60218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109617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601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58230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32574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8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57248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12997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30704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67233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940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70126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85088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6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93724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92108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109964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284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104843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122931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2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139956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135536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65770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151587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302191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297626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258484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88245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014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640632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631160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608205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48927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550433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140044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286919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796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286654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267391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10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159038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156887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153663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27517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171965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74495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169516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9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112990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113921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17033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134373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87194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87049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84205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11841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94750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54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69857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87993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38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63380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63206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62371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78809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68453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702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70504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22563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82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59281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60494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47157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95408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1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67948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67440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66221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85653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21570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12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58162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58869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57012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73980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25598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63672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521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64358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64173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79521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32167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8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75124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88415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33199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81116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80462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80558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100451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88527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89138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86400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106417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46573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106754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109172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108234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103337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16707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448510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438678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431491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62802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346539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346547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131079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298232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120721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113493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19596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119816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60313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96685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97276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93427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110970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48353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117580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86611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87790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83765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104925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43847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64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83680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82992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81064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98598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98600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37515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88998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2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65896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65905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64899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83182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34134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366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57705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57492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56813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28256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68136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4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67100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68255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66928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1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de-DE" sz="6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luma modes: 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67340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68575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68000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99757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54676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6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104362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537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779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3379-8674-A962-E145-EFDFC721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55F781CE-023F-EEF1-36A6-BD9983AE9EF2}"/>
              </a:ext>
            </a:extLst>
          </p:cNvPr>
          <p:cNvSpPr/>
          <p:nvPr/>
        </p:nvSpPr>
        <p:spPr>
          <a:xfrm>
            <a:off x="4581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spc="-1" dirty="0">
                <a:solidFill>
                  <a:srgbClr val="000000"/>
                </a:solidFill>
                <a:latin typeface="Calibri"/>
              </a:rPr>
              <a:t>Intra Chroma Modes</a:t>
            </a:r>
            <a:endParaRPr lang="en-US" altLang="zh-CN" sz="2800" spc="-1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8BBE648-1FD5-9A1E-3190-C582A9DD1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92793"/>
              </p:ext>
            </p:extLst>
          </p:nvPr>
        </p:nvGraphicFramePr>
        <p:xfrm>
          <a:off x="179513" y="915566"/>
          <a:ext cx="8784973" cy="2540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Diag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14346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22856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LM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DM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1737260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1746542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1711978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696841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1171536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550303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94979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66059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171506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111527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112199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Planar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143833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88800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218652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117985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116631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1136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Horiz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99584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50536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193958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111476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5178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Vert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79135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77189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43349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158141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91273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94126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0788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chroma modes: Diag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31604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29795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28565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14346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41286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22856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8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26655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243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812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5408-FE8C-437E-3AFE-FE2B7471D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9E6B3C-A6C5-69B2-C110-E1829440B69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Block Size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0447331-C55A-5661-861B-4EBC76DF6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872014"/>
              </p:ext>
            </p:extLst>
          </p:nvPr>
        </p:nvGraphicFramePr>
        <p:xfrm>
          <a:off x="179512" y="915566"/>
          <a:ext cx="8784976" cy="22860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32x32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16x16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564905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553017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552975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548572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854979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629525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629522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675697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595503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8x8</a:t>
                      </a:r>
                    </a:p>
                  </a:txBody>
                  <a:tcPr marL="76200" marR="76200" marT="76200" marB="762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1018106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1024736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1024664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1012585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548881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878140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878137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1136647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1354256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sizes: 4x4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2481797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2426222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2426113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2334174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2477131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2477156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567427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200000"/>
                        </a:lnSpc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741510</a:t>
                      </a:r>
                    </a:p>
                  </a:txBody>
                  <a:tcPr marL="76200" marR="76200" marT="76200" marB="762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44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B0FF-041B-A418-29CB-33197AA5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01D0274E-BE80-2655-B0D7-3964C782D2E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Transform Types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4644188-15F4-9205-FDA6-92A0AFF2B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66540"/>
              </p:ext>
            </p:extLst>
          </p:nvPr>
        </p:nvGraphicFramePr>
        <p:xfrm>
          <a:off x="178612" y="915566"/>
          <a:ext cx="8784976" cy="120904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DCT</a:t>
                      </a:r>
                    </a:p>
                  </a:txBody>
                  <a:tcPr marL="88900" marR="88900" marT="88900" marB="8890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5760</a:t>
                      </a: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DST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117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88900" marR="88900" marT="88900" marB="889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09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07A4-4FEF-2EE0-6805-BAB59CAA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F7CE526F-2D46-6072-D07A-E979622EEDB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TU Depth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F062CCD-CD0C-E2B6-A978-A8456F901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28989"/>
              </p:ext>
            </p:extLst>
          </p:nvPr>
        </p:nvGraphicFramePr>
        <p:xfrm>
          <a:off x="179512" y="915566"/>
          <a:ext cx="8784976" cy="3603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33049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64): 4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701032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184497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187934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194518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222093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186262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209521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200142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74608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59127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1189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32): 3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91583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373653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357535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345024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599924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451136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463284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395167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66913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1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727705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1015084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74458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16): 2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97942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745810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756400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752111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544795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95149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 depth (CU 8): 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1617306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1574827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1574773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1494503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1668157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48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540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19A4-C371-99BD-97AA-DEFB57A5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6B13A1CB-EB74-2264-3B76-222246624D4B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SCC Tools (IntraBC, Palette)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506D25-7E4B-1B8B-8FB0-00B03CE69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008983"/>
              </p:ext>
            </p:extLst>
          </p:nvPr>
        </p:nvGraphicFramePr>
        <p:xfrm>
          <a:off x="179512" y="915566"/>
          <a:ext cx="8784976" cy="12271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10040">
                  <a:extLst>
                    <a:ext uri="{9D8B030D-6E8A-4147-A177-3AD203B41FA5}">
                      <a16:colId xmlns:a16="http://schemas.microsoft.com/office/drawing/2014/main" val="2264223225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052542589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802805833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236350954"/>
                    </a:ext>
                  </a:extLst>
                </a:gridCol>
                <a:gridCol w="770612">
                  <a:extLst>
                    <a:ext uri="{9D8B030D-6E8A-4147-A177-3AD203B41FA5}">
                      <a16:colId xmlns:a16="http://schemas.microsoft.com/office/drawing/2014/main" val="2541652971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4242213258"/>
                    </a:ext>
                  </a:extLst>
                </a:gridCol>
                <a:gridCol w="847673">
                  <a:extLst>
                    <a:ext uri="{9D8B030D-6E8A-4147-A177-3AD203B41FA5}">
                      <a16:colId xmlns:a16="http://schemas.microsoft.com/office/drawing/2014/main" val="774421937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0495012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3500377036"/>
                    </a:ext>
                  </a:extLst>
                </a:gridCol>
                <a:gridCol w="693551">
                  <a:extLst>
                    <a:ext uri="{9D8B030D-6E8A-4147-A177-3AD203B41FA5}">
                      <a16:colId xmlns:a16="http://schemas.microsoft.com/office/drawing/2014/main" val="1193022296"/>
                    </a:ext>
                  </a:extLst>
                </a:gridCol>
                <a:gridCol w="847672">
                  <a:extLst>
                    <a:ext uri="{9D8B030D-6E8A-4147-A177-3AD203B41FA5}">
                      <a16:colId xmlns:a16="http://schemas.microsoft.com/office/drawing/2014/main" val="246712312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76200" marR="76200" marT="76200" marB="762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6577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faster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veryfast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superfast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slow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medium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>
                          <a:solidFill>
                            <a:srgbClr val="000000"/>
                          </a:solidFill>
                          <a:effectLst/>
                        </a:rPr>
                        <a:t>ultrafast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0" marR="76200" marT="76200" marB="762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5647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 PU type: IBC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91013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 mode: Palette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17937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Intra PU type: Palette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90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57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Block Partitioning : Partition Schemes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156005"/>
              </p:ext>
            </p:extLst>
          </p:nvPr>
        </p:nvGraphicFramePr>
        <p:xfrm>
          <a:off x="178613" y="915566"/>
          <a:ext cx="8784973" cy="26416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1662467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1674161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1674082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1655267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959931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1418221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1418223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773432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699872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Nx2N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NxN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530314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518914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518879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495469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536846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536856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208489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311518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964633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2NxnU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68863723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2NxnD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89068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nLx2N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555650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 types: nRx2N</a:t>
                      </a:r>
                      <a:endParaRPr lang="de-DE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altLang="zh-CN" sz="900" b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3500" marR="63500" marT="63500" marB="635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38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66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7B4A-C5A5-7191-ECDA-65CE2FAB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DF815160-B86D-0B44-6B68-5AA5703EC221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:Deblocking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8B29BB2-38A9-BD34-2A86-EA2403B6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27081"/>
              </p:ext>
            </p:extLst>
          </p:nvPr>
        </p:nvGraphicFramePr>
        <p:xfrm>
          <a:off x="178613" y="915566"/>
          <a:ext cx="8784973" cy="1379855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No deblock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1140682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1133217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1124332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634200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1062481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1080957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strong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1637639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1631550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1611049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1369642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1259756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1380349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Deblocking luma vertical: Luma weak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3862123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3857817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3857645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3807115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2852910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3437247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3788878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933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20F9B-F3D1-B9AD-974C-9452EC7F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7B71F092-8B86-6D42-E63A-033A3AEFC150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Post processing filters</a:t>
            </a:r>
            <a:r>
              <a:rPr lang="en-US" altLang="zh-CN" sz="2800" dirty="0"/>
              <a:t>:SAO Filter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D82EC8-B150-3AC6-001A-67E86CED0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20512"/>
              </p:ext>
            </p:extLst>
          </p:nvPr>
        </p:nvGraphicFramePr>
        <p:xfrm>
          <a:off x="178613" y="915566"/>
          <a:ext cx="8784973" cy="223139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No Operation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303572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284744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274806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Band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17365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17221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38594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46936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90-Degree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25767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135-Degree Edge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12233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27042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33648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SAO type luma: 45-Degree Edge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19824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19132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19125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38127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44274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47349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58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72A2-5408-5CF1-1654-33FD2304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el 1">
            <a:extLst>
              <a:ext uri="{FF2B5EF4-FFF2-40B4-BE49-F238E27FC236}">
                <a16:creationId xmlns:a16="http://schemas.microsoft.com/office/drawing/2014/main" id="{9834C2BA-0DBC-CB07-9380-4610E0678777}"/>
              </a:ext>
            </a:extLst>
          </p:cNvPr>
          <p:cNvSpPr/>
          <p:nvPr/>
        </p:nvSpPr>
        <p:spPr>
          <a:xfrm>
            <a:off x="457200" y="123480"/>
            <a:ext cx="8227800" cy="56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de-DE" altLang="zh-CN" sz="2800" dirty="0"/>
              <a:t>Slices</a:t>
            </a:r>
            <a:endParaRPr lang="en-US" sz="2800" b="0" strike="noStrike" spc="-1" dirty="0">
              <a:latin typeface="Arial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5FA8C93-2B99-5DDB-CA02-BB3E6C00B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332032"/>
              </p:ext>
            </p:extLst>
          </p:nvPr>
        </p:nvGraphicFramePr>
        <p:xfrm>
          <a:off x="178613" y="915566"/>
          <a:ext cx="8784973" cy="225632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54997">
                  <a:extLst>
                    <a:ext uri="{9D8B030D-6E8A-4147-A177-3AD203B41FA5}">
                      <a16:colId xmlns:a16="http://schemas.microsoft.com/office/drawing/2014/main" val="1129626437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80553190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124432815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1054130423"/>
                    </a:ext>
                  </a:extLst>
                </a:gridCol>
                <a:gridCol w="784373">
                  <a:extLst>
                    <a:ext uri="{9D8B030D-6E8A-4147-A177-3AD203B41FA5}">
                      <a16:colId xmlns:a16="http://schemas.microsoft.com/office/drawing/2014/main" val="1018738993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71573312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2144713133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3747766716"/>
                    </a:ext>
                  </a:extLst>
                </a:gridCol>
                <a:gridCol w="705935">
                  <a:extLst>
                    <a:ext uri="{9D8B030D-6E8A-4147-A177-3AD203B41FA5}">
                      <a16:colId xmlns:a16="http://schemas.microsoft.com/office/drawing/2014/main" val="557953587"/>
                    </a:ext>
                  </a:extLst>
                </a:gridCol>
                <a:gridCol w="627498">
                  <a:extLst>
                    <a:ext uri="{9D8B030D-6E8A-4147-A177-3AD203B41FA5}">
                      <a16:colId xmlns:a16="http://schemas.microsoft.com/office/drawing/2014/main" val="3420244339"/>
                    </a:ext>
                  </a:extLst>
                </a:gridCol>
                <a:gridCol w="862810">
                  <a:extLst>
                    <a:ext uri="{9D8B030D-6E8A-4147-A177-3AD203B41FA5}">
                      <a16:colId xmlns:a16="http://schemas.microsoft.com/office/drawing/2014/main" val="17385893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VQ Stats</a:t>
                      </a:r>
                    </a:p>
                  </a:txBody>
                  <a:tcPr marL="63500" marR="63500" marT="63500" marB="635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SW 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HW </a:t>
                      </a:r>
                      <a:r>
                        <a:rPr lang="de-DE" altLang="zh-C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Preset</a:t>
                      </a:r>
                      <a:endParaRPr lang="de-DE" sz="900" b="1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88900" marR="88900" marT="88900" marB="889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3625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veryfast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slow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ultrafast</a:t>
                      </a:r>
                    </a:p>
                  </a:txBody>
                  <a:tcPr marL="63500" marR="63500" marT="63500" marB="635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62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0808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5279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26264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595442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48027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41213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2006424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376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7595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2032</Words>
  <Application>Microsoft Office PowerPoint</Application>
  <PresentationFormat>全屏显示(16:9)</PresentationFormat>
  <Paragraphs>1444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MSAM10</vt:lpstr>
      <vt:lpstr>等线</vt:lpstr>
      <vt:lpstr>Arial</vt:lpstr>
      <vt:lpstr>Calibri</vt:lpstr>
      <vt:lpstr>Symbol</vt:lpstr>
      <vt:lpstr>Wingdings</vt:lpstr>
      <vt:lpstr>Larissa</vt:lpstr>
      <vt:lpstr>Benutzerdefiniertes Design</vt:lpstr>
      <vt:lpstr>Office Theme</vt:lpstr>
      <vt:lpstr>Master Thesis - Update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Anna</dc:creator>
  <cp:lastModifiedBy>韵 尚</cp:lastModifiedBy>
  <cp:revision>23</cp:revision>
  <dcterms:created xsi:type="dcterms:W3CDTF">2014-04-16T13:22:23Z</dcterms:created>
  <dcterms:modified xsi:type="dcterms:W3CDTF">2025-10-05T13:16:03Z</dcterms:modified>
</cp:coreProperties>
</file>
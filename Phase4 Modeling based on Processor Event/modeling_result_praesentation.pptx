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5" r:id="rId2"/>
    <p:sldMasterId id="2147483661" r:id="rId3"/>
  </p:sldMasterIdLst>
  <p:notesMasterIdLst>
    <p:notesMasterId r:id="rId36"/>
  </p:notesMasterIdLst>
  <p:sldIdLst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0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3" r:id="rId21"/>
    <p:sldId id="275" r:id="rId22"/>
    <p:sldId id="276" r:id="rId23"/>
    <p:sldId id="283" r:id="rId24"/>
    <p:sldId id="277" r:id="rId25"/>
    <p:sldId id="281" r:id="rId26"/>
    <p:sldId id="282" r:id="rId27"/>
    <p:sldId id="278" r:id="rId28"/>
    <p:sldId id="279" r:id="rId29"/>
    <p:sldId id="284" r:id="rId30"/>
    <p:sldId id="285" r:id="rId31"/>
    <p:sldId id="286" r:id="rId32"/>
    <p:sldId id="287" r:id="rId33"/>
    <p:sldId id="288" r:id="rId34"/>
    <p:sldId id="280" r:id="rId35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韵 尚" initials="韵尚" lastIdx="1" clrIdx="0">
    <p:extLst>
      <p:ext uri="{19B8F6BF-5375-455C-9EA6-DF929625EA0E}">
        <p15:presenceInfo xmlns:p15="http://schemas.microsoft.com/office/powerpoint/2012/main" userId="2e18cb8e836bd45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492" autoAdjust="0"/>
  </p:normalViewPr>
  <p:slideViewPr>
    <p:cSldViewPr>
      <p:cViewPr varScale="1">
        <p:scale>
          <a:sx n="141" d="100"/>
          <a:sy n="141" d="100"/>
        </p:scale>
        <p:origin x="498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7D375-95CF-44BC-B7FF-A1702E2C7285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28928-0A2A-41C7-9EFD-40912034F71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5956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828928-0A2A-41C7-9EFD-40912034F71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4101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Coefficient of Determination</a:t>
            </a:r>
          </a:p>
          <a:p>
            <a:r>
              <a:rPr lang="en-US" altLang="zh-CN" dirty="0"/>
              <a:t>(full name for R², pronounced “R-squared”)</a:t>
            </a:r>
          </a:p>
          <a:p>
            <a:r>
              <a:rPr lang="en-US" altLang="zh-CN" dirty="0"/>
              <a:t>Meaning:</a:t>
            </a:r>
          </a:p>
          <a:p>
            <a:r>
              <a:rPr lang="en-US" altLang="zh-CN" dirty="0"/>
              <a:t>It measures how much of the total variance in the true energy values is explained by the model’s predictions.</a:t>
            </a:r>
          </a:p>
          <a:p>
            <a:r>
              <a:rPr lang="en-US" altLang="zh-CN" dirty="0"/>
              <a:t>A value of 1.0 means perfect prediction (all variation is explained).</a:t>
            </a:r>
          </a:p>
          <a:p>
            <a:r>
              <a:rPr lang="en-US" altLang="zh-CN" dirty="0"/>
              <a:t>A value near 0 means the model fails to explain the data.</a:t>
            </a:r>
          </a:p>
          <a:p>
            <a:r>
              <a:rPr lang="en-US" altLang="zh-CN" dirty="0"/>
              <a:t>Interpretation in your table:</a:t>
            </a:r>
          </a:p>
          <a:p>
            <a:r>
              <a:rPr lang="en-US" altLang="zh-CN" dirty="0"/>
              <a:t>Config A (Linear) → 0.9528: about 95% of the variation in measured energy is explained by the linear model.</a:t>
            </a:r>
          </a:p>
          <a:p>
            <a:r>
              <a:rPr lang="en-US" altLang="zh-CN" dirty="0"/>
              <a:t>Config B (</a:t>
            </a:r>
            <a:r>
              <a:rPr lang="en-US" altLang="zh-CN" dirty="0" err="1"/>
              <a:t>XGBoost</a:t>
            </a:r>
            <a:r>
              <a:rPr lang="en-US" altLang="zh-CN" dirty="0"/>
              <a:t>) → 0.9310: around 93% of the variation explained.</a:t>
            </a:r>
          </a:p>
          <a:p>
            <a:r>
              <a:rPr lang="en-US" altLang="zh-CN" dirty="0"/>
              <a:t>This means your models describe the overall trend of energy very well — only about 5–7% of the variance remains unexplained.</a:t>
            </a:r>
            <a:br>
              <a:rPr lang="en-US" altLang="zh-CN" dirty="0"/>
            </a:br>
            <a:r>
              <a:rPr lang="en-US" altLang="zh-CN" b="1" dirty="0"/>
              <a:t>Root Mean Square Error</a:t>
            </a:r>
          </a:p>
          <a:p>
            <a:r>
              <a:rPr lang="en-US" altLang="zh-CN" dirty="0"/>
              <a:t>(full name for </a:t>
            </a:r>
            <a:r>
              <a:rPr lang="en-US" altLang="zh-CN" b="1" dirty="0"/>
              <a:t>RMSE</a:t>
            </a:r>
            <a:r>
              <a:rPr lang="en-US" altLang="zh-CN" dirty="0"/>
              <a:t>)</a:t>
            </a:r>
          </a:p>
          <a:p>
            <a:r>
              <a:rPr lang="en-US" altLang="zh-CN" b="1" dirty="0"/>
              <a:t>Meaning:</a:t>
            </a:r>
            <a:br>
              <a:rPr lang="en-US" altLang="zh-CN" dirty="0"/>
            </a:br>
            <a:r>
              <a:rPr lang="en-US" altLang="zh-CN" dirty="0"/>
              <a:t>It is the </a:t>
            </a:r>
            <a:r>
              <a:rPr lang="en-US" altLang="zh-CN" i="1" dirty="0"/>
              <a:t>square root of the average of the squared differences</a:t>
            </a:r>
            <a:r>
              <a:rPr lang="en-US" altLang="zh-CN" dirty="0"/>
              <a:t> between predicted and measured energy values.</a:t>
            </a:r>
            <a:br>
              <a:rPr lang="en-US" altLang="zh-CN" dirty="0"/>
            </a:br>
            <a:r>
              <a:rPr lang="en-US" altLang="zh-CN" dirty="0"/>
              <a:t>It represents the </a:t>
            </a:r>
            <a:r>
              <a:rPr lang="en-US" altLang="zh-CN" b="1" dirty="0"/>
              <a:t>average absolute error magnitude</a:t>
            </a:r>
            <a:r>
              <a:rPr lang="en-US" altLang="zh-CN" dirty="0"/>
              <a:t> in the same units as your energy measurements (likely joules).</a:t>
            </a:r>
          </a:p>
          <a:p>
            <a:r>
              <a:rPr lang="en-US" altLang="zh-CN" b="1" dirty="0"/>
              <a:t>Interpretation:</a:t>
            </a:r>
            <a:endParaRPr lang="en-US" altLang="zh-CN" dirty="0"/>
          </a:p>
          <a:p>
            <a:r>
              <a:rPr lang="en-US" altLang="zh-CN" dirty="0"/>
              <a:t>Smaller RMSE means </a:t>
            </a:r>
            <a:r>
              <a:rPr lang="en-US" altLang="zh-CN" b="1" dirty="0"/>
              <a:t>the predictions are closer to the real energy values</a:t>
            </a:r>
            <a:r>
              <a:rPr lang="en-US" altLang="zh-CN" dirty="0"/>
              <a:t> on average.</a:t>
            </a:r>
          </a:p>
          <a:p>
            <a:r>
              <a:rPr lang="en-US" altLang="zh-CN" dirty="0"/>
              <a:t>For example:</a:t>
            </a:r>
          </a:p>
          <a:p>
            <a:pPr lvl="1"/>
            <a:r>
              <a:rPr lang="en-US" altLang="zh-CN" dirty="0"/>
              <a:t>Config A (Linear): 0.633 → the average absolute deviation from measured energy is about 0.63 J.</a:t>
            </a:r>
          </a:p>
          <a:p>
            <a:pPr lvl="1"/>
            <a:r>
              <a:rPr lang="en-US" altLang="zh-CN" dirty="0"/>
              <a:t>Config B (Linear): 0.828 → average error increases to 0.83 J.</a:t>
            </a:r>
          </a:p>
          <a:p>
            <a:pPr lvl="1"/>
            <a:r>
              <a:rPr lang="en-US" altLang="zh-CN" dirty="0"/>
              <a:t>Config B (</a:t>
            </a:r>
            <a:r>
              <a:rPr lang="en-US" altLang="zh-CN" dirty="0" err="1"/>
              <a:t>XGBoost</a:t>
            </a:r>
            <a:r>
              <a:rPr lang="en-US" altLang="zh-CN" dirty="0"/>
              <a:t>): 0.765 → </a:t>
            </a:r>
            <a:r>
              <a:rPr lang="en-US" altLang="zh-CN" dirty="0" err="1"/>
              <a:t>XGBoost</a:t>
            </a:r>
            <a:r>
              <a:rPr lang="en-US" altLang="zh-CN" dirty="0"/>
              <a:t> reduces that error slightly.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28928-0A2A-41C7-9EFD-40912034F71F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5103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14D47-8D82-8689-AE89-9478A1429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8D424-387F-8FD7-037B-0ECA307F6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69963-8594-F73F-3953-F1B872D3F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Linear Regression behaves as expected.</a:t>
            </a:r>
            <a:br>
              <a:rPr lang="en-US" altLang="zh-CN" dirty="0"/>
            </a:br>
            <a:r>
              <a:rPr lang="en-US" altLang="zh-CN" dirty="0"/>
              <a:t>For every preset, Configuration A yields </a:t>
            </a:r>
            <a:r>
              <a:rPr lang="en-US" altLang="zh-CN" b="1" dirty="0"/>
              <a:t>smaller errors than B</a:t>
            </a:r>
            <a:r>
              <a:rPr lang="en-US" altLang="zh-CN" dirty="0"/>
              <a:t>, often by 1–2 percentage points.</a:t>
            </a:r>
            <a:br>
              <a:rPr lang="en-US" altLang="zh-CN" dirty="0"/>
            </a:br>
            <a:r>
              <a:rPr lang="en-US" altLang="zh-CN" dirty="0"/>
              <a:t>→ This matches the hypothesis that SAO’s memory-access pattern is </a:t>
            </a:r>
            <a:r>
              <a:rPr lang="en-US" altLang="zh-CN" b="1" dirty="0"/>
              <a:t>more linear and stable</a:t>
            </a:r>
            <a:r>
              <a:rPr lang="en-US" altLang="zh-CN" dirty="0"/>
              <a:t>, so its energy relation can be captured well by a simple linear model.</a:t>
            </a:r>
          </a:p>
          <a:p>
            <a:r>
              <a:rPr lang="en-US" altLang="zh-CN" b="1" dirty="0" err="1"/>
              <a:t>XGBoost</a:t>
            </a:r>
            <a:r>
              <a:rPr lang="en-US" altLang="zh-CN" b="1" dirty="0"/>
              <a:t> minimizes error further (~2.5–3 %)</a:t>
            </a:r>
            <a:r>
              <a:rPr lang="en-US" altLang="zh-CN" dirty="0"/>
              <a:t>, but the A vs B trend is less consistent.</a:t>
            </a:r>
          </a:p>
          <a:p>
            <a:r>
              <a:rPr lang="en-US" altLang="zh-CN" dirty="0"/>
              <a:t>In </a:t>
            </a:r>
            <a:r>
              <a:rPr lang="en-US" altLang="zh-CN" i="1" dirty="0"/>
              <a:t>fast</a:t>
            </a:r>
            <a:r>
              <a:rPr lang="en-US" altLang="zh-CN" dirty="0"/>
              <a:t>, </a:t>
            </a:r>
            <a:r>
              <a:rPr lang="en-US" altLang="zh-CN" i="1" dirty="0"/>
              <a:t>faster</a:t>
            </a:r>
            <a:r>
              <a:rPr lang="en-US" altLang="zh-CN" dirty="0"/>
              <a:t>, and </a:t>
            </a:r>
            <a:r>
              <a:rPr lang="en-US" altLang="zh-CN" i="1" dirty="0"/>
              <a:t>superfast</a:t>
            </a:r>
            <a:r>
              <a:rPr lang="en-US" altLang="zh-CN" dirty="0"/>
              <a:t>, B is slightly better (Δ ≈ +0.1–0.4 %).</a:t>
            </a:r>
          </a:p>
          <a:p>
            <a:r>
              <a:rPr lang="en-US" altLang="zh-CN" dirty="0"/>
              <a:t>In </a:t>
            </a:r>
            <a:r>
              <a:rPr lang="en-US" altLang="zh-CN" i="1" dirty="0" err="1"/>
              <a:t>veryfast</a:t>
            </a:r>
            <a:r>
              <a:rPr lang="en-US" altLang="zh-CN" dirty="0"/>
              <a:t>, A becomes clearly better (Δ = –0.7 %).</a:t>
            </a:r>
            <a:br>
              <a:rPr lang="en-US" altLang="zh-CN" dirty="0"/>
            </a:br>
            <a:r>
              <a:rPr lang="en-US" altLang="zh-CN" dirty="0"/>
              <a:t>→ This suggests that when nonlinear effects dominate (branch conditions in Deblock), </a:t>
            </a:r>
            <a:r>
              <a:rPr lang="en-US" altLang="zh-CN" dirty="0" err="1"/>
              <a:t>XGBoost</a:t>
            </a:r>
            <a:r>
              <a:rPr lang="en-US" altLang="zh-CN" dirty="0"/>
              <a:t> can adapt better, but when the pattern remains structured (</a:t>
            </a:r>
            <a:r>
              <a:rPr lang="en-US" altLang="zh-CN" dirty="0" err="1"/>
              <a:t>veryfast</a:t>
            </a:r>
            <a:r>
              <a:rPr lang="en-US" altLang="zh-CN" dirty="0"/>
              <a:t> preset), SAO (A) retains an advantage.</a:t>
            </a:r>
          </a:p>
          <a:p>
            <a:r>
              <a:rPr lang="en-US" altLang="zh-CN" b="1" dirty="0"/>
              <a:t>Overall interpretation.</a:t>
            </a:r>
            <a:endParaRPr lang="en-US" altLang="zh-CN" dirty="0"/>
          </a:p>
          <a:p>
            <a:r>
              <a:rPr lang="en-US" altLang="zh-CN" dirty="0"/>
              <a:t>Linear Regression already provides acceptable precision (≈ 4 % MAPE).</a:t>
            </a:r>
          </a:p>
          <a:p>
            <a:r>
              <a:rPr lang="en-US" altLang="zh-CN" dirty="0"/>
              <a:t>Within this range, </a:t>
            </a:r>
            <a:r>
              <a:rPr lang="en-US" altLang="zh-CN" b="1" dirty="0"/>
              <a:t>Configuration A consistently achieves lower error</a:t>
            </a:r>
            <a:r>
              <a:rPr lang="en-US" altLang="zh-CN" dirty="0"/>
              <a:t>, confirming the design goal:</a:t>
            </a:r>
            <a:br>
              <a:rPr lang="en-US" altLang="zh-CN" dirty="0"/>
            </a:br>
            <a:r>
              <a:rPr lang="en-US" altLang="zh-CN" i="1" dirty="0"/>
              <a:t>if a simple model is sufficient, the SAO-enabled mode is easier to predict and thus more energy-stable</a:t>
            </a:r>
            <a:r>
              <a:rPr lang="en-US" altLang="zh-CN" dirty="0"/>
              <a:t>.</a:t>
            </a:r>
          </a:p>
          <a:p>
            <a:r>
              <a:rPr lang="en-US" altLang="zh-CN" dirty="0" err="1"/>
              <a:t>XGBoost</a:t>
            </a:r>
            <a:r>
              <a:rPr lang="en-US" altLang="zh-CN" dirty="0"/>
              <a:t> offers marginal improvement and reveals nonlinear behavior mainly in the Deblock configuration.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8185C-5CF9-ECE9-B09D-880F587DD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28928-0A2A-41C7-9EFD-40912034F71F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993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Cv</a:t>
            </a:r>
            <a:r>
              <a:rPr lang="en-US" altLang="zh-CN" dirty="0"/>
              <a:t>:</a:t>
            </a:r>
            <a:r>
              <a:rPr lang="de-DE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coefficient of variation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28928-0A2A-41C7-9EFD-40912034F71F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2242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Two distinct event sets were captured for an identical video decoding task:</a:t>
            </a:r>
          </a:p>
          <a:p>
            <a:r>
              <a:rPr lang="en-US" altLang="zh-CN" b="1" dirty="0"/>
              <a:t>'Perf Basic'</a:t>
            </a:r>
            <a:r>
              <a:rPr lang="en-US" altLang="zh-CN" dirty="0"/>
              <a:t>: A default set of 11 core performance counters.</a:t>
            </a:r>
          </a:p>
          <a:p>
            <a:r>
              <a:rPr lang="en-US" altLang="zh-CN" b="1" dirty="0"/>
              <a:t>'Perf Extended'</a:t>
            </a:r>
            <a:r>
              <a:rPr lang="en-US" altLang="zh-CN" dirty="0"/>
              <a:t>: A custom set of 18 detailed hardware events for in-depth analysis.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28928-0A2A-41C7-9EFD-40912034F71F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086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022" y="4083918"/>
            <a:ext cx="1227466" cy="72007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86" b="8314"/>
          <a:stretch/>
        </p:blipFill>
        <p:spPr>
          <a:xfrm>
            <a:off x="0" y="0"/>
            <a:ext cx="9153525" cy="278933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765375"/>
            <a:ext cx="7772400" cy="814487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Textfeld 7"/>
          <p:cNvSpPr txBox="1"/>
          <p:nvPr userDrawn="1"/>
        </p:nvSpPr>
        <p:spPr>
          <a:xfrm>
            <a:off x="1691680" y="3603669"/>
            <a:ext cx="57606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Max</a:t>
            </a:r>
            <a:r>
              <a:rPr lang="de-D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Mustermann</a:t>
            </a:r>
          </a:p>
          <a:p>
            <a:pPr algn="ctr"/>
            <a:r>
              <a:rPr lang="de-DE" sz="160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max.mustermann@lnt.de </a:t>
            </a:r>
            <a:br>
              <a:rPr lang="de-DE" sz="160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de-DE" baseline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Chair</a:t>
            </a:r>
            <a:r>
              <a:rPr lang="de-D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baseline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of</a:t>
            </a:r>
            <a:r>
              <a:rPr lang="de-D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Multimedia Communications</a:t>
            </a:r>
          </a:p>
          <a:p>
            <a:pPr algn="ctr"/>
            <a:r>
              <a:rPr lang="de-DE" baseline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de-D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Signal Processing</a:t>
            </a:r>
            <a:endParaRPr lang="de-D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Line 11"/>
          <p:cNvSpPr>
            <a:spLocks noChangeShapeType="1"/>
          </p:cNvSpPr>
          <p:nvPr userDrawn="1"/>
        </p:nvSpPr>
        <p:spPr bwMode="auto">
          <a:xfrm>
            <a:off x="208028" y="4803998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" name="Line 12"/>
          <p:cNvSpPr>
            <a:spLocks noChangeShapeType="1"/>
          </p:cNvSpPr>
          <p:nvPr userDrawn="1"/>
        </p:nvSpPr>
        <p:spPr bwMode="auto">
          <a:xfrm>
            <a:off x="285028" y="4859561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5F63B1-5C25-FACA-4512-59447E8B3CA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28" y="4155957"/>
            <a:ext cx="1383091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4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494410"/>
            <a:ext cx="7772400" cy="1021556"/>
          </a:xfrm>
        </p:spPr>
        <p:txBody>
          <a:bodyPr anchor="t">
            <a:noAutofit/>
          </a:bodyPr>
          <a:lstStyle>
            <a:lvl1pPr algn="l">
              <a:defRPr sz="2800" b="1" cap="all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789336"/>
            <a:ext cx="7772400" cy="718518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86" b="8314"/>
          <a:stretch/>
        </p:blipFill>
        <p:spPr>
          <a:xfrm>
            <a:off x="0" y="0"/>
            <a:ext cx="9153525" cy="2789336"/>
          </a:xfrm>
          <a:prstGeom prst="rect">
            <a:avLst/>
          </a:prstGeom>
        </p:spPr>
      </p:pic>
      <p:sp>
        <p:nvSpPr>
          <p:cNvPr id="16" name="Line 11"/>
          <p:cNvSpPr>
            <a:spLocks noChangeShapeType="1"/>
          </p:cNvSpPr>
          <p:nvPr userDrawn="1"/>
        </p:nvSpPr>
        <p:spPr bwMode="auto">
          <a:xfrm>
            <a:off x="208028" y="4515966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7" name="Line 12"/>
          <p:cNvSpPr>
            <a:spLocks noChangeShapeType="1"/>
          </p:cNvSpPr>
          <p:nvPr userDrawn="1"/>
        </p:nvSpPr>
        <p:spPr bwMode="auto">
          <a:xfrm>
            <a:off x="285028" y="4571529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778" y="4587974"/>
            <a:ext cx="859132" cy="50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93893A-BF9F-DC2B-56B8-977C4F9BFF9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28" y="4632247"/>
            <a:ext cx="1123762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26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565571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778" y="4587974"/>
            <a:ext cx="859132" cy="504000"/>
          </a:xfrm>
          <a:prstGeom prst="rect">
            <a:avLst/>
          </a:prstGeom>
        </p:spPr>
      </p:pic>
      <p:sp>
        <p:nvSpPr>
          <p:cNvPr id="11" name="Line 11"/>
          <p:cNvSpPr>
            <a:spLocks noChangeShapeType="1"/>
          </p:cNvSpPr>
          <p:nvPr userDrawn="1"/>
        </p:nvSpPr>
        <p:spPr bwMode="auto">
          <a:xfrm>
            <a:off x="213020" y="699542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" name="Line 12"/>
          <p:cNvSpPr>
            <a:spLocks noChangeShapeType="1"/>
          </p:cNvSpPr>
          <p:nvPr userDrawn="1"/>
        </p:nvSpPr>
        <p:spPr bwMode="auto">
          <a:xfrm>
            <a:off x="290020" y="755105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Line 11"/>
          <p:cNvSpPr>
            <a:spLocks noChangeShapeType="1"/>
          </p:cNvSpPr>
          <p:nvPr userDrawn="1"/>
        </p:nvSpPr>
        <p:spPr bwMode="auto">
          <a:xfrm>
            <a:off x="208028" y="4515966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7" name="Line 12"/>
          <p:cNvSpPr>
            <a:spLocks noChangeShapeType="1"/>
          </p:cNvSpPr>
          <p:nvPr userDrawn="1"/>
        </p:nvSpPr>
        <p:spPr bwMode="auto">
          <a:xfrm>
            <a:off x="285028" y="4571529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C6B807-B00B-B381-C566-147A00EB4A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28" y="4632247"/>
            <a:ext cx="1123762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01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5549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987575"/>
            <a:ext cx="4038600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987575"/>
            <a:ext cx="4038600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21373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915566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419623"/>
            <a:ext cx="4040188" cy="302433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915566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1419623"/>
            <a:ext cx="4041775" cy="302433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114880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675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5748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6665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323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7513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0339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2012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7039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0537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3234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8196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892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3.emf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01810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565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987575"/>
            <a:ext cx="8229600" cy="3384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Line 11"/>
          <p:cNvSpPr>
            <a:spLocks noChangeShapeType="1"/>
          </p:cNvSpPr>
          <p:nvPr userDrawn="1"/>
        </p:nvSpPr>
        <p:spPr bwMode="auto">
          <a:xfrm>
            <a:off x="213020" y="699542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Line 12"/>
          <p:cNvSpPr>
            <a:spLocks noChangeShapeType="1"/>
          </p:cNvSpPr>
          <p:nvPr userDrawn="1"/>
        </p:nvSpPr>
        <p:spPr bwMode="auto">
          <a:xfrm>
            <a:off x="290020" y="755105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1" name="Textfeld 10"/>
          <p:cNvSpPr txBox="1"/>
          <p:nvPr userDrawn="1"/>
        </p:nvSpPr>
        <p:spPr>
          <a:xfrm>
            <a:off x="2373260" y="4815031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Chair of Multimedia Communications and Signal Processing</a:t>
            </a:r>
            <a:endParaRPr lang="de-DE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feld 13"/>
          <p:cNvSpPr txBox="1"/>
          <p:nvPr userDrawn="1"/>
        </p:nvSpPr>
        <p:spPr>
          <a:xfrm>
            <a:off x="2368627" y="4579757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kern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Author</a:t>
            </a:r>
            <a:r>
              <a:rPr lang="de-DE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: Short Title</a:t>
            </a:r>
          </a:p>
        </p:txBody>
      </p:sp>
      <p:sp>
        <p:nvSpPr>
          <p:cNvPr id="15" name="Textfeld 14"/>
          <p:cNvSpPr txBox="1"/>
          <p:nvPr userDrawn="1"/>
        </p:nvSpPr>
        <p:spPr>
          <a:xfrm>
            <a:off x="7020272" y="4579955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18.05.2014</a:t>
            </a:r>
          </a:p>
        </p:txBody>
      </p:sp>
      <p:sp>
        <p:nvSpPr>
          <p:cNvPr id="16" name="Textfeld 15"/>
          <p:cNvSpPr txBox="1"/>
          <p:nvPr userDrawn="1"/>
        </p:nvSpPr>
        <p:spPr>
          <a:xfrm>
            <a:off x="6876256" y="4823248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Page </a:t>
            </a:r>
            <a:fld id="{AF634817-4550-4D34-8501-C09E3EF797D6}" type="slidenum">
              <a:rPr lang="de-DE"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de-DE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Line 11"/>
          <p:cNvSpPr>
            <a:spLocks noChangeShapeType="1"/>
          </p:cNvSpPr>
          <p:nvPr userDrawn="1"/>
        </p:nvSpPr>
        <p:spPr bwMode="auto">
          <a:xfrm>
            <a:off x="208028" y="4515966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8" name="Line 12"/>
          <p:cNvSpPr>
            <a:spLocks noChangeShapeType="1"/>
          </p:cNvSpPr>
          <p:nvPr userDrawn="1"/>
        </p:nvSpPr>
        <p:spPr bwMode="auto">
          <a:xfrm>
            <a:off x="285028" y="4571529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778" y="4587974"/>
            <a:ext cx="859132" cy="504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7869B99-5B28-02D2-2F9B-CC8E6508878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28" y="4632247"/>
            <a:ext cx="1123762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0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9" r:id="rId2"/>
    <p:sldLayoutId id="2147483660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ine 11"/>
          <p:cNvSpPr/>
          <p:nvPr/>
        </p:nvSpPr>
        <p:spPr>
          <a:xfrm>
            <a:off x="212760" y="699480"/>
            <a:ext cx="8641080" cy="360"/>
          </a:xfrm>
          <a:prstGeom prst="line">
            <a:avLst/>
          </a:prstGeom>
          <a:ln w="28440">
            <a:solidFill>
              <a:srgbClr val="CC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Line 12"/>
          <p:cNvSpPr/>
          <p:nvPr/>
        </p:nvSpPr>
        <p:spPr>
          <a:xfrm>
            <a:off x="289800" y="754920"/>
            <a:ext cx="8641080" cy="360"/>
          </a:xfrm>
          <a:prstGeom prst="line">
            <a:avLst/>
          </a:prstGeom>
          <a:ln w="2844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Textfeld 10"/>
          <p:cNvSpPr/>
          <p:nvPr/>
        </p:nvSpPr>
        <p:spPr>
          <a:xfrm>
            <a:off x="2373120" y="4815000"/>
            <a:ext cx="43905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Chair of Multimedia Communications and Signal Processing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6" name="Textfeld 13"/>
          <p:cNvSpPr/>
          <p:nvPr/>
        </p:nvSpPr>
        <p:spPr>
          <a:xfrm>
            <a:off x="2368800" y="4579920"/>
            <a:ext cx="43905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Lokeshwar: HiWi- SVT-AV1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7" name="Textfeld 14"/>
          <p:cNvSpPr/>
          <p:nvPr/>
        </p:nvSpPr>
        <p:spPr>
          <a:xfrm>
            <a:off x="7020360" y="4579920"/>
            <a:ext cx="9342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de-DE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26.06.2025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8" name="Textfeld 15"/>
          <p:cNvSpPr/>
          <p:nvPr/>
        </p:nvSpPr>
        <p:spPr>
          <a:xfrm>
            <a:off x="6876360" y="4823280"/>
            <a:ext cx="107820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de-DE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Page </a:t>
            </a:r>
            <a:fld id="{F3136AC0-EF8E-4720-9D4A-784EA8153A0A}" type="slidenum">
              <a:rPr lang="de-DE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49" name="Line 11"/>
          <p:cNvSpPr/>
          <p:nvPr/>
        </p:nvSpPr>
        <p:spPr>
          <a:xfrm>
            <a:off x="207720" y="4515840"/>
            <a:ext cx="8641080" cy="360"/>
          </a:xfrm>
          <a:prstGeom prst="line">
            <a:avLst/>
          </a:prstGeom>
          <a:ln w="28440">
            <a:solidFill>
              <a:srgbClr val="CC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" name="Line 12"/>
          <p:cNvSpPr/>
          <p:nvPr/>
        </p:nvSpPr>
        <p:spPr>
          <a:xfrm>
            <a:off x="284760" y="4571280"/>
            <a:ext cx="8641080" cy="360"/>
          </a:xfrm>
          <a:prstGeom prst="line">
            <a:avLst/>
          </a:prstGeom>
          <a:ln w="2844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1" name="Grafik 18"/>
          <p:cNvPicPr/>
          <p:nvPr/>
        </p:nvPicPr>
        <p:blipFill>
          <a:blip r:embed="rId14"/>
          <a:stretch/>
        </p:blipFill>
        <p:spPr>
          <a:xfrm>
            <a:off x="8076600" y="4587840"/>
            <a:ext cx="857160" cy="502200"/>
          </a:xfrm>
          <a:prstGeom prst="rect">
            <a:avLst/>
          </a:prstGeom>
          <a:ln w="0">
            <a:noFill/>
          </a:ln>
        </p:spPr>
      </p:pic>
      <p:pic>
        <p:nvPicPr>
          <p:cNvPr id="52" name="Picture 20"/>
          <p:cNvPicPr/>
          <p:nvPr/>
        </p:nvPicPr>
        <p:blipFill>
          <a:blip r:embed="rId15"/>
          <a:stretch/>
        </p:blipFill>
        <p:spPr>
          <a:xfrm>
            <a:off x="285120" y="4632120"/>
            <a:ext cx="1122120" cy="46620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18057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Master Thesis - Update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C86D9-BA41-3C80-E0CE-5C5E29D3BFD5}"/>
              </a:ext>
            </a:extLst>
          </p:cNvPr>
          <p:cNvSpPr/>
          <p:nvPr/>
        </p:nvSpPr>
        <p:spPr>
          <a:xfrm>
            <a:off x="1691680" y="3579862"/>
            <a:ext cx="6048672" cy="1152128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altLang="zh-CN" spc="-1" dirty="0">
                <a:solidFill>
                  <a:srgbClr val="808080"/>
                </a:solidFill>
                <a:latin typeface="Calibri"/>
              </a:rPr>
              <a:t>Yun Shang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</a:rPr>
              <a:t>yun.shang@fau.de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Chair of Multimedia Communications and Signal Processing</a:t>
            </a: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7835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itel 1"/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CONTENT</a:t>
            </a:r>
            <a:endParaRPr kumimoji="0" lang="en-US" sz="2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34" name="Inhaltsplatzhalter 2"/>
          <p:cNvSpPr/>
          <p:nvPr/>
        </p:nvSpPr>
        <p:spPr>
          <a:xfrm>
            <a:off x="457200" y="987480"/>
            <a:ext cx="8363272" cy="33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CD3333"/>
                </a:solidFill>
                <a:effectLst/>
                <a:uLnTx/>
                <a:uFillTx/>
                <a:latin typeface="MSAM10"/>
                <a:ea typeface="DejaVu Sans"/>
              </a:rPr>
              <a:t>▶ 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Tools Used: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	1. Software Encoder: x265 and Hardware Encoder</a:t>
            </a:r>
            <a:r>
              <a:rPr kumimoji="0" lang="fr-FR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: NVIDIA Jetson Orin NX (8GB)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	2. Dataset- AOM Class 1 &amp; 2, 8-bit video sequence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	3. VQ Analyzer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lvl="0">
              <a:spcBef>
                <a:spcPts val="360"/>
              </a:spcBef>
              <a:tabLst>
                <a:tab pos="0" algn="l"/>
              </a:tabLst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CD3333"/>
                </a:solidFill>
                <a:effectLst/>
                <a:uLnTx/>
                <a:uFillTx/>
                <a:latin typeface="MSAM10"/>
                <a:ea typeface="DejaVu Sans"/>
              </a:rPr>
              <a:t>▶ </a:t>
            </a:r>
            <a:r>
              <a:rPr kumimoji="0" lang="en-US" altLang="zh-CN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the first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 </a:t>
            </a:r>
            <a:r>
              <a:rPr lang="en-US" altLang="zh-CN" spc="-1" dirty="0">
                <a:solidFill>
                  <a:srgbClr val="000000"/>
                </a:solidFill>
                <a:latin typeface="Calibri"/>
                <a:ea typeface="DejaVu Sans"/>
              </a:rPr>
              <a:t>f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rames for each video </a:t>
            </a:r>
            <a:r>
              <a:rPr lang="de-DE" spc="-1" dirty="0">
                <a:solidFill>
                  <a:srgbClr val="000000"/>
                </a:solidFill>
                <a:latin typeface="Calibri"/>
              </a:rPr>
              <a:t>sequence, SWE</a:t>
            </a:r>
            <a:r>
              <a:rPr lang="de-DE" altLang="zh-CN" spc="-1" dirty="0">
                <a:solidFill>
                  <a:srgbClr val="000000"/>
                </a:solidFill>
                <a:latin typeface="Calibri"/>
              </a:rPr>
              <a:t>nc</a:t>
            </a:r>
            <a:r>
              <a:rPr lang="de-DE" spc="-1" dirty="0">
                <a:solidFill>
                  <a:srgbClr val="000000"/>
                </a:solidFill>
                <a:latin typeface="Calibri"/>
              </a:rPr>
              <a:t> preset(ultrafast, superfast, veryfast, faster, fast, medium) and HWEnc  preset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(</a:t>
            </a:r>
            <a:r>
              <a:rPr lang="de-DE" altLang="zh-CN" spc="-1" dirty="0">
                <a:solidFill>
                  <a:srgbClr val="000000"/>
                </a:solidFill>
                <a:latin typeface="Calibri"/>
              </a:rPr>
              <a:t>slow,medium,fast,ultrafast)</a:t>
            </a: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pPr lvl="0">
              <a:spcBef>
                <a:spcPts val="360"/>
              </a:spcBef>
              <a:tabLst>
                <a:tab pos="0" algn="l"/>
              </a:tabLst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CD3333"/>
                </a:solidFill>
                <a:effectLst/>
                <a:uLnTx/>
                <a:uFillTx/>
                <a:latin typeface="MSAM10"/>
                <a:ea typeface="DejaVu Sans"/>
              </a:rPr>
              <a:t>▶ 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QP value-</a:t>
            </a:r>
            <a:r>
              <a:rPr lang="de-DE" altLang="zh-CN" spc="-1" dirty="0">
                <a:solidFill>
                  <a:srgbClr val="000000"/>
                </a:solidFill>
                <a:latin typeface="Calibri"/>
              </a:rPr>
              <a:t> SWEnc&amp;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HWEnc(</a:t>
            </a:r>
            <a:r>
              <a:rPr lang="en-US" altLang="zh-CN" dirty="0"/>
              <a:t>22, 27, 32, 37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)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/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PU Block Size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EADB297-1C23-70EC-1EB1-D58E4DAEC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388138"/>
              </p:ext>
            </p:extLst>
          </p:nvPr>
        </p:nvGraphicFramePr>
        <p:xfrm>
          <a:off x="178613" y="915566"/>
          <a:ext cx="8784973" cy="339502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23412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22061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64x64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64x48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5101276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64x32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8597559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64x16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33580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48x64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1854335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6038971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226516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231084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231084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231096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236998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264983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237175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237175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260213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250390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8702684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5982608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971313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4125555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24x32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9521909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984513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469293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446355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446355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446333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430898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694948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512516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512512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513219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449482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8490537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646338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8637237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068011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12x16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565041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8x32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038714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8x16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8645744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8x8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966658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996722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996722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996653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987371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668530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668536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833956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1246072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129718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8x4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336626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4x16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1439410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4x8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3316046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4x4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2121256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2075656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2075656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2075516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1981876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2147384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2147424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25373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5BA94-7ED3-9802-EE44-442C8078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A6F74A1E-AA15-B9F6-875F-E70576B55B58}"/>
              </a:ext>
            </a:extLst>
          </p:cNvPr>
          <p:cNvSpPr/>
          <p:nvPr/>
        </p:nvSpPr>
        <p:spPr>
          <a:xfrm>
            <a:off x="4581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spc="-1" dirty="0">
                <a:solidFill>
                  <a:srgbClr val="000000"/>
                </a:solidFill>
                <a:latin typeface="Calibri"/>
              </a:rPr>
              <a:t>Intra Luma Modes</a:t>
            </a:r>
            <a:endParaRPr lang="en-US" altLang="zh-CN" sz="2800" spc="-1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C367F90-41EE-25F4-0274-D7AB0A8BD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205718"/>
              </p:ext>
            </p:extLst>
          </p:nvPr>
        </p:nvGraphicFramePr>
        <p:xfrm>
          <a:off x="179513" y="915566"/>
          <a:ext cx="8784973" cy="401637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1194704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1161053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1161053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1160970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1109026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226071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908746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908755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460769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684000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635099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614491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614491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614458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591388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164741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502523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502525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312504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437061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6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60607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60501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60501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58328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12147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96654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96656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60218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109617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601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58230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57662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86497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86497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32574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80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57477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58002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58002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57994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57248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12997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72765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72767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30704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67233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94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67966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70159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70159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70158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70126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85088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85088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38612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464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93450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93728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93728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93724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92108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15361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109964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109964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44992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98622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284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104843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103896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103896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103885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98894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18845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122930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122931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53241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925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141968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139951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139951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139956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135536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25690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157557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157557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65770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151587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483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302191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297631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297631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297626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280950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25928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258477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258484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88245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014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640632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631166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631166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631160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608205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48927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550431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550433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140044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286919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96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286654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282263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282263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282244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267391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24802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243453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243453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88896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101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159038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156894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156894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156887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153663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27517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171962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171965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74495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169516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97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112990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113932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113932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113921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109098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17033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134372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134373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51408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3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87194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87048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87048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87049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84205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11841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104918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104918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94750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854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70602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69857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87991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87993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35001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03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63380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63214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63214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63206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62371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78807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78809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28036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68453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702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70672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70504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70504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70512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68512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88489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88489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22563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982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59281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60490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60490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60494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66730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66730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47157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95408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713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67948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67480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67480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67440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66221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85651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85653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21570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125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58162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58874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58874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58869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57012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73980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73980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63672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521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64358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64191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64191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64173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62676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79519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79521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32167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984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75124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75286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75286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75284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72172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88415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88415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33199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81116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80462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80573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80573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80558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78111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100451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100451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40476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90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88527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89152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89152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89138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106419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106417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46573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106754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6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109172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108236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108236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108234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103337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16707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112232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112232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57785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637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448510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438662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438662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438678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431491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62802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346539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346547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131079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298232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68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120721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120018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120018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120010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113493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19596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119817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119816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60313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65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96685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97286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97286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97276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93427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110965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110970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48353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117580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3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87806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87806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87790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83765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104925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104925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43847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645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83680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82991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82991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82992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81064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98598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98600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37515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88998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29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65896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65912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65912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65905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64899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12673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83171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83182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34134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366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57705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57513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57513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57492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56813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74124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74131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28256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68136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43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68266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68266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68255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66928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32043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16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67340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68581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68581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68575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99757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99757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54676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104362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537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779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63379-8674-A962-E145-EFDFC7219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55F781CE-023F-EEF1-36A6-BD9983AE9EF2}"/>
              </a:ext>
            </a:extLst>
          </p:cNvPr>
          <p:cNvSpPr/>
          <p:nvPr/>
        </p:nvSpPr>
        <p:spPr>
          <a:xfrm>
            <a:off x="4581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spc="-1" dirty="0">
                <a:solidFill>
                  <a:srgbClr val="000000"/>
                </a:solidFill>
                <a:latin typeface="Calibri"/>
              </a:rPr>
              <a:t>Intra Chroma Modes</a:t>
            </a:r>
            <a:endParaRPr lang="en-US" altLang="zh-CN" sz="2800" spc="-1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8BBE648-1FD5-9A1E-3190-C582A9DD1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038294"/>
              </p:ext>
            </p:extLst>
          </p:nvPr>
        </p:nvGraphicFramePr>
        <p:xfrm>
          <a:off x="179513" y="915566"/>
          <a:ext cx="8784973" cy="231711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Diag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31604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28565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14346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41286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41286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22856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26655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LM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979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DM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1737260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1746622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1746622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1746542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1711978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696841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1171526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1171536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530407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550303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9514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DC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96358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96028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96028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96018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94979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66059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171505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171506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111527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112199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3480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Planar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146302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143849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143849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143833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141936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88800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218651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218652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117985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116631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71136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Horiz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102122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99586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99586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99584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97634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50536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193958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193958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107873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111476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35178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Vert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79135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77193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77193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77189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75644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43349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158141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158141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91273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94126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788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121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25408-FE8C-437E-3AFE-FE2B7471D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7B9E6B3C-A6C5-69B2-C110-E1829440B697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TU Block Size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0447331-C55A-5661-861B-4EBC76DF6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872014"/>
              </p:ext>
            </p:extLst>
          </p:nvPr>
        </p:nvGraphicFramePr>
        <p:xfrm>
          <a:off x="179512" y="915566"/>
          <a:ext cx="8784976" cy="2286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10040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70612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76200" marR="76200" marT="76200" marB="762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sizes: 32x32</a:t>
                      </a:r>
                    </a:p>
                  </a:txBody>
                  <a:tcPr marL="76200" marR="76200" marT="76200" marB="762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184497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187926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187926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187934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194518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222093</a:t>
                      </a: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186262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186262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209521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200142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sizes: 16x16</a:t>
                      </a:r>
                    </a:p>
                  </a:txBody>
                  <a:tcPr marL="76200" marR="76200" marT="76200" marB="762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564905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553017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553017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552975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548572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854979</a:t>
                      </a: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629525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629522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675697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595503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06979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sizes: 8x8</a:t>
                      </a:r>
                    </a:p>
                  </a:txBody>
                  <a:tcPr marL="76200" marR="76200" marT="76200" marB="762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1018106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1024736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1024736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1024664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1012585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548881</a:t>
                      </a: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878140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878137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1136647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1354256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229514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sizes: 4x4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2481797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2426222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2426222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2426113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2334174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2477131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2477156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567427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741510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480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448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7B0FF-041B-A418-29CB-33197AA5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01D0274E-BE80-2655-B0D7-3964C782D2E1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Transform Types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4644188-15F4-9205-FDA6-92A0AFF2B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966540"/>
              </p:ext>
            </p:extLst>
          </p:nvPr>
        </p:nvGraphicFramePr>
        <p:xfrm>
          <a:off x="178612" y="915566"/>
          <a:ext cx="8784976" cy="12090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10040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70612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76200" marR="76200" marT="76200" marB="762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DCT</a:t>
                      </a:r>
                    </a:p>
                  </a:txBody>
                  <a:tcPr marL="88900" marR="88900" marT="88900" marB="889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5760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5760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DST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794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099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B07A4-4FEF-2EE0-6805-BAB59CAA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F7CE526F-2D46-6072-D07A-E979622EEDB0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TU Depth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F062CCD-CD0C-E2B6-A978-A8456F901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528989"/>
              </p:ext>
            </p:extLst>
          </p:nvPr>
        </p:nvGraphicFramePr>
        <p:xfrm>
          <a:off x="179512" y="915566"/>
          <a:ext cx="8784976" cy="36031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10040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70612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76200" marR="76200" marT="76200" marB="762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0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1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79374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2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7229057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3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330492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4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70103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32): 0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184497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194518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222093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186262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186262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209521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200142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74608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32): 1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59127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32): 2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11896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32): 3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915839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16): 0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373653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357557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357557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357535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345024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599924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451140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451136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463284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395167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6669132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16): 1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727705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1015084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744582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16): 2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97942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8): 0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745810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756443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756443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756400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752111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544791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544795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951493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8): 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1617306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1574827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1574827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1574773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1494503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1668135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1668157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480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540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19A4-C371-99BD-97AA-DEFB57A5B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6B13A1CB-EB74-2264-3B76-222246624D4B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SCC Tools (IntraBC, Palette)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B506D25-7E4B-1B8B-8FB0-00B03CE69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008983"/>
              </p:ext>
            </p:extLst>
          </p:nvPr>
        </p:nvGraphicFramePr>
        <p:xfrm>
          <a:off x="179512" y="915566"/>
          <a:ext cx="8784976" cy="12271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10040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70612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76200" marR="76200" marT="76200" marB="762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 PU type: IBC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 mode: Palette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79374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PU type: Palette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290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576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7B4A-C5A5-7191-ECDA-65CE2FAB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DF815160-B86D-0B44-6B68-5AA5703EC221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Block Partitioning : Partition Schemes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8B29BB2-38A9-BD34-2A86-EA2403B63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156005"/>
              </p:ext>
            </p:extLst>
          </p:nvPr>
        </p:nvGraphicFramePr>
        <p:xfrm>
          <a:off x="178613" y="915566"/>
          <a:ext cx="8784973" cy="26416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slow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2Nx2N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1662467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1674161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1674161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1674082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1655267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959931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1418221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1418223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773432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699872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2NxN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Nx2N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98849053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NxN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530314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518914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518914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518879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495469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536846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536856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208489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311518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9646338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2NxnU</a:t>
                      </a:r>
                      <a:endParaRPr lang="de-DE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68863723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2NxnD</a:t>
                      </a:r>
                      <a:endParaRPr lang="de-DE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890680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nLx2N</a:t>
                      </a:r>
                      <a:endParaRPr lang="de-DE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5556504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nRx2N</a:t>
                      </a:r>
                      <a:endParaRPr lang="de-DE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38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660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7B4A-C5A5-7191-ECDA-65CE2FAB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DF815160-B86D-0B44-6B68-5AA5703EC221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Post processing filters</a:t>
            </a:r>
            <a:r>
              <a:rPr lang="en-US" altLang="zh-CN" sz="2800" dirty="0"/>
              <a:t>:Deblocking Filter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8B29BB2-38A9-BD34-2A86-EA2403B63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915146"/>
              </p:ext>
            </p:extLst>
          </p:nvPr>
        </p:nvGraphicFramePr>
        <p:xfrm>
          <a:off x="178613" y="915566"/>
          <a:ext cx="8784973" cy="137985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slow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Deblocking luma vertical: No deblock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1140682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1133279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1133279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1133217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1124332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634200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1062481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1080957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Deblocking luma vertical: Luma strong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1637639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1631548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1631548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1631550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1611049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1369642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1259756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1380349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Deblocking luma vertical: Luma weak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3862123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3857817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3857817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3857645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3807115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2852910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3437247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3788878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490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933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20F9B-F3D1-B9AD-974C-9452EC7F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7B71F092-8B86-6D42-E63A-033A3AEFC150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Post processing filters</a:t>
            </a:r>
            <a:r>
              <a:rPr lang="en-US" altLang="zh-CN" sz="2800" dirty="0"/>
              <a:t>:SAO Filter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0D82EC8-B150-3AC6-001A-67E86CED0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198933"/>
              </p:ext>
            </p:extLst>
          </p:nvPr>
        </p:nvGraphicFramePr>
        <p:xfrm>
          <a:off x="178613" y="915566"/>
          <a:ext cx="8784973" cy="223139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slow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No Operation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47307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46876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46876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46879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303572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303572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284744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274806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Band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8589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59544201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0-Degree Edge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17365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42425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46936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1480276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90-Degree Edge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27097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27097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25767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26109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4121318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135-Degree Edge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12228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27043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27042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33648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36851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0064242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45-Degree Edge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19824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19132</a:t>
                      </a:r>
                    </a:p>
                  </a:txBody>
                  <a:tcPr marL="9525" marR="9525" marT="952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19132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19125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38126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38127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44274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47349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1589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072A2-5408-5CF1-1654-33FD2304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9834C2BA-0DBC-CB07-9380-4610E0678777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Slices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FA8C93-2B99-5DDB-CA02-BB3E6C00B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953684"/>
              </p:ext>
            </p:extLst>
          </p:nvPr>
        </p:nvGraphicFramePr>
        <p:xfrm>
          <a:off x="178613" y="963502"/>
          <a:ext cx="8784973" cy="22563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slow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552794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262641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595442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25%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148027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412131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75%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006424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675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BC523-D1CF-2C6A-2F75-FBA91C895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93127DEA-0716-8E7E-6A59-9F2563CFCE35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Pe</a:t>
            </a:r>
            <a:r>
              <a:rPr lang="en-US" altLang="zh-CN" sz="2800" dirty="0"/>
              <a:t>s Means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37B7012-094B-836E-81EF-5424DC6FF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868765"/>
              </p:ext>
            </p:extLst>
          </p:nvPr>
        </p:nvGraphicFramePr>
        <p:xfrm>
          <a:off x="178614" y="915566"/>
          <a:ext cx="8784974" cy="288031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64144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500698">
                  <a:extLst>
                    <a:ext uri="{9D8B030D-6E8A-4147-A177-3AD203B41FA5}">
                      <a16:colId xmlns:a16="http://schemas.microsoft.com/office/drawing/2014/main" val="2058185317"/>
                    </a:ext>
                  </a:extLst>
                </a:gridCol>
                <a:gridCol w="728288">
                  <a:extLst>
                    <a:ext uri="{9D8B030D-6E8A-4147-A177-3AD203B41FA5}">
                      <a16:colId xmlns:a16="http://schemas.microsoft.com/office/drawing/2014/main" val="3346187466"/>
                    </a:ext>
                  </a:extLst>
                </a:gridCol>
                <a:gridCol w="682770">
                  <a:extLst>
                    <a:ext uri="{9D8B030D-6E8A-4147-A177-3AD203B41FA5}">
                      <a16:colId xmlns:a16="http://schemas.microsoft.com/office/drawing/2014/main" val="4136875672"/>
                    </a:ext>
                  </a:extLst>
                </a:gridCol>
                <a:gridCol w="682770">
                  <a:extLst>
                    <a:ext uri="{9D8B030D-6E8A-4147-A177-3AD203B41FA5}">
                      <a16:colId xmlns:a16="http://schemas.microsoft.com/office/drawing/2014/main" val="126156900"/>
                    </a:ext>
                  </a:extLst>
                </a:gridCol>
                <a:gridCol w="637252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591734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591734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409662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546216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546216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682770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591734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37252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591734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409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preset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Ir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Dw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I1mr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D1mr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D1mw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ILmr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DLmr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DLmw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Bc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Bcm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Bim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275118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1582183333333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422345825632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197531596234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11426425996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3370542229 </a:t>
                      </a:r>
                    </a:p>
                  </a:txBody>
                  <a:tcPr marL="63500" marR="63500" marT="63500" marB="63500" anchor="ctr"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2914192122 </a:t>
                      </a:r>
                    </a:p>
                  </a:txBody>
                  <a:tcPr marL="63500" marR="63500" marT="63500" marB="63500" anchor="ctr"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855417</a:t>
                      </a: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3500" marR="63500" marT="63500" marB="63500" anchor="ctr"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117965209 </a:t>
                      </a:r>
                    </a:p>
                  </a:txBody>
                  <a:tcPr marL="63500" marR="63500" marT="63500" marB="63500" anchor="ctr"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134319042 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101058351481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8451609542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10459048514 </a:t>
                      </a:r>
                    </a:p>
                  </a:txBody>
                  <a:tcPr marL="63500" marR="63500" marT="63500" marB="63500" anchor="ctr"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1091677153 </a:t>
                      </a:r>
                    </a:p>
                  </a:txBody>
                  <a:tcPr marL="63500" marR="63500" marT="63500" marB="63500" anchor="ctr">
                    <a:lnT>
                      <a:noFill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2751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1578291666667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421283333333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196779035304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11496162362</a:t>
                      </a: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3357378966</a:t>
                      </a: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2905120485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838868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116071853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130915538 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100537592355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8397361430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10414485013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1088359243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2751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1578573037440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421556946496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197532830125</a:t>
                      </a: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11240510972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3394407901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2930623328</a:t>
                      </a: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853964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118510843</a:t>
                      </a: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135456267 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101479583160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8485630296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10507609054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1096978748</a:t>
                      </a: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279498"/>
                  </a:ext>
                </a:extLst>
              </a:tr>
              <a:tr h="40987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1498916666667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402316666667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187712883357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11212730514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4304917426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2837442413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662559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76505519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117763503 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95129386372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8274410989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10233197730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1071702595 </a:t>
                      </a:r>
                    </a:p>
                  </a:txBody>
                  <a:tcPr marL="63500" marR="63500" marT="63500" marB="63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626414"/>
                  </a:ext>
                </a:extLst>
              </a:tr>
              <a:tr h="275118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1561750000000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416783333333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193722773177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11894363524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3231622868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2843826512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759553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106522753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115299681 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98008447016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8169158359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10202840402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1067984389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44201"/>
                  </a:ext>
                </a:extLst>
              </a:tr>
              <a:tr h="2751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1599066666667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426133333333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197163943169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12494495159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3238874716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2858611120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783003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107439817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116905731 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98948477751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8252468166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10280017205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1074933831 </a:t>
                      </a:r>
                    </a:p>
                  </a:txBody>
                  <a:tcPr marL="63500" marR="63500" marT="63500" marB="635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480276"/>
                  </a:ext>
                </a:extLst>
              </a:tr>
              <a:tr h="2751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1543775000000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412158333333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192118746712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11492960050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3224955781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2829460277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755138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105782968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115010703 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97740965792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8163220403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10159047744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1061610407 </a:t>
                      </a:r>
                    </a:p>
                  </a:txBody>
                  <a:tcPr marL="63500" marR="63500" marT="63500" marB="63500" anchor="ctr"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121318"/>
                  </a:ext>
                </a:extLst>
              </a:tr>
              <a:tr h="40987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1496925000000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400275000000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186977791643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11294816942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4293240060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2769118076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713145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104988203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104823200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94341056273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8087937505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9975591602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1040900816 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0642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3ED9BF9-62BA-80DD-76F2-63A6746B365E}"/>
              </a:ext>
            </a:extLst>
          </p:cNvPr>
          <p:cNvSpPr txBox="1"/>
          <p:nvPr/>
        </p:nvSpPr>
        <p:spPr>
          <a:xfrm>
            <a:off x="5508104" y="163660"/>
            <a:ext cx="388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Config A(Default):</a:t>
            </a:r>
            <a:br>
              <a:rPr lang="en-US" altLang="zh-CN" sz="1400" dirty="0"/>
            </a:br>
            <a:r>
              <a:rPr lang="en-US" altLang="zh-CN" sz="1400" dirty="0"/>
              <a:t>Config B(Hardware-like): --no-deblock --</a:t>
            </a:r>
            <a:r>
              <a:rPr lang="en-US" altLang="zh-CN" sz="1400" dirty="0" err="1"/>
              <a:t>sao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99145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2A64-95F5-F77C-8348-A3ED883FF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723FADA5-4E97-2890-4943-41DEAEF2920F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Processor Events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E34C84-55D5-24EA-8FE6-B2BFE8132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" y="732742"/>
            <a:ext cx="4837123" cy="37832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C34F55-4370-B71E-A090-782DA19D4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130" y="986116"/>
            <a:ext cx="4309631" cy="352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60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D884E-DC74-837A-2C9E-F9F67F6F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8686"/>
            <a:ext cx="8229240" cy="858600"/>
          </a:xfrm>
        </p:spPr>
        <p:txBody>
          <a:bodyPr/>
          <a:lstStyle/>
          <a:p>
            <a:r>
              <a:rPr lang="en-US" altLang="zh-CN" sz="1800" b="1" dirty="0"/>
              <a:t>Explanation: Why </a:t>
            </a:r>
            <a:r>
              <a:rPr lang="en-US" altLang="zh-CN" sz="1800" b="1" i="1" dirty="0"/>
              <a:t>superfast</a:t>
            </a:r>
            <a:r>
              <a:rPr lang="en-US" altLang="zh-CN" sz="1800" b="1" dirty="0"/>
              <a:t> shows the lowest values for most PEs but the highest D1mr</a:t>
            </a:r>
            <a:br>
              <a:rPr lang="en-US" altLang="zh-CN" sz="1800" b="1" dirty="0"/>
            </a:br>
            <a:endParaRPr lang="zh-CN" alt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B1516-FB2F-D3B9-8257-191A647CFD1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23528" y="1002072"/>
            <a:ext cx="8229240" cy="2982960"/>
          </a:xfrm>
        </p:spPr>
        <p:txBody>
          <a:bodyPr/>
          <a:lstStyle/>
          <a:p>
            <a:r>
              <a:rPr lang="en-US" altLang="zh-CN" sz="1100" dirty="0"/>
              <a:t>In the </a:t>
            </a:r>
            <a:r>
              <a:rPr lang="en-US" altLang="zh-CN" sz="1100" b="1" dirty="0"/>
              <a:t>x265 preset hierarchy</a:t>
            </a:r>
            <a:r>
              <a:rPr lang="en-US" altLang="zh-CN" sz="1100" dirty="0"/>
              <a:t> (from </a:t>
            </a:r>
            <a:r>
              <a:rPr lang="en-US" altLang="zh-CN" sz="1100" i="1" dirty="0"/>
              <a:t>fast</a:t>
            </a:r>
            <a:r>
              <a:rPr lang="en-US" altLang="zh-CN" sz="1100" dirty="0"/>
              <a:t> → </a:t>
            </a:r>
            <a:r>
              <a:rPr lang="en-US" altLang="zh-CN" sz="1100" i="1" dirty="0"/>
              <a:t>faster</a:t>
            </a:r>
            <a:r>
              <a:rPr lang="en-US" altLang="zh-CN" sz="1100" dirty="0"/>
              <a:t> → </a:t>
            </a:r>
            <a:r>
              <a:rPr lang="en-US" altLang="zh-CN" sz="1100" i="1" dirty="0" err="1"/>
              <a:t>veryfast</a:t>
            </a:r>
            <a:r>
              <a:rPr lang="en-US" altLang="zh-CN" sz="1100" dirty="0"/>
              <a:t> → </a:t>
            </a:r>
            <a:r>
              <a:rPr lang="en-US" altLang="zh-CN" sz="1100" i="1" dirty="0"/>
              <a:t>superfast</a:t>
            </a:r>
            <a:r>
              <a:rPr lang="en-US" altLang="zh-CN" sz="1100" dirty="0"/>
              <a:t>), the encoder progressively </a:t>
            </a:r>
            <a:r>
              <a:rPr lang="en-US" altLang="zh-CN" sz="1100" b="1" dirty="0"/>
              <a:t>disables or simplifies a large number of computational modules</a:t>
            </a:r>
            <a:r>
              <a:rPr lang="en-US" altLang="zh-CN" sz="1100" dirty="0"/>
              <a:t> to achieve higher speed.</a:t>
            </a:r>
            <a:br>
              <a:rPr lang="en-US" altLang="zh-CN" sz="1100" dirty="0"/>
            </a:br>
            <a:r>
              <a:rPr lang="en-US" altLang="zh-CN" sz="1100" dirty="0"/>
              <a:t>At the </a:t>
            </a:r>
            <a:r>
              <a:rPr lang="en-US" altLang="zh-CN" sz="1100" i="1" dirty="0"/>
              <a:t>superfast</a:t>
            </a:r>
            <a:r>
              <a:rPr lang="en-US" altLang="zh-CN" sz="1100" dirty="0"/>
              <a:t> level, most rate-distortion optimization (RDO) steps, intra-mode searches, and block-partition checks are heavily pruned or skipped.</a:t>
            </a:r>
          </a:p>
          <a:p>
            <a:r>
              <a:rPr lang="en-US" altLang="zh-CN" sz="1100" b="1" dirty="0"/>
              <a:t>(1) Reduced computational and memory workload</a:t>
            </a:r>
          </a:p>
          <a:p>
            <a:r>
              <a:rPr lang="en-US" altLang="zh-CN" sz="1100" dirty="0"/>
              <a:t>Because many algorithmic branches and searches are disabled:</a:t>
            </a:r>
          </a:p>
          <a:p>
            <a:r>
              <a:rPr lang="en-US" altLang="zh-CN" sz="1100" b="1" dirty="0" err="1"/>
              <a:t>Ir</a:t>
            </a:r>
            <a:r>
              <a:rPr lang="en-US" altLang="zh-CN" sz="1100" b="1" dirty="0"/>
              <a:t> (executed instructions)</a:t>
            </a:r>
            <a:r>
              <a:rPr lang="en-US" altLang="zh-CN" sz="1100" dirty="0"/>
              <a:t> decreases — fewer code paths are executed.</a:t>
            </a:r>
          </a:p>
          <a:p>
            <a:r>
              <a:rPr lang="en-US" altLang="zh-CN" sz="1100" b="1" dirty="0"/>
              <a:t>Dr/</a:t>
            </a:r>
            <a:r>
              <a:rPr lang="en-US" altLang="zh-CN" sz="1100" b="1" dirty="0" err="1"/>
              <a:t>Dw</a:t>
            </a:r>
            <a:r>
              <a:rPr lang="en-US" altLang="zh-CN" sz="1100" b="1" dirty="0"/>
              <a:t> (data reads/writes)</a:t>
            </a:r>
            <a:r>
              <a:rPr lang="en-US" altLang="zh-CN" sz="1100" dirty="0"/>
              <a:t> decrease — less data is loaded or stored.</a:t>
            </a:r>
          </a:p>
          <a:p>
            <a:r>
              <a:rPr lang="en-US" altLang="zh-CN" sz="1100" b="1" dirty="0"/>
              <a:t>Branch-related events (</a:t>
            </a:r>
            <a:r>
              <a:rPr lang="en-US" altLang="zh-CN" sz="1100" b="1" dirty="0" err="1"/>
              <a:t>Bc</a:t>
            </a:r>
            <a:r>
              <a:rPr lang="en-US" altLang="zh-CN" sz="1100" b="1" dirty="0"/>
              <a:t>, Bi, </a:t>
            </a:r>
            <a:r>
              <a:rPr lang="en-US" altLang="zh-CN" sz="1100" b="1" dirty="0" err="1"/>
              <a:t>Bcm</a:t>
            </a:r>
            <a:r>
              <a:rPr lang="en-US" altLang="zh-CN" sz="1100" b="1" dirty="0"/>
              <a:t>, Bim)</a:t>
            </a:r>
            <a:r>
              <a:rPr lang="en-US" altLang="zh-CN" sz="1100" dirty="0"/>
              <a:t> decrease — the control flow becomes simpler.</a:t>
            </a:r>
          </a:p>
          <a:p>
            <a:r>
              <a:rPr lang="en-US" altLang="zh-CN" sz="1100" b="1" dirty="0"/>
              <a:t>Higher-level cache misses (</a:t>
            </a:r>
            <a:r>
              <a:rPr lang="en-US" altLang="zh-CN" sz="1100" b="1" dirty="0" err="1"/>
              <a:t>DLmr</a:t>
            </a:r>
            <a:r>
              <a:rPr lang="en-US" altLang="zh-CN" sz="1100" b="1" dirty="0"/>
              <a:t>, </a:t>
            </a:r>
            <a:r>
              <a:rPr lang="en-US" altLang="zh-CN" sz="1100" b="1" dirty="0" err="1"/>
              <a:t>DLmw</a:t>
            </a:r>
            <a:r>
              <a:rPr lang="en-US" altLang="zh-CN" sz="1100" b="1" dirty="0"/>
              <a:t>, ILmr)</a:t>
            </a:r>
            <a:r>
              <a:rPr lang="en-US" altLang="zh-CN" sz="1100" dirty="0"/>
              <a:t> usually also decrease because the overall memory footprint becomes smaller.</a:t>
            </a:r>
          </a:p>
          <a:p>
            <a:r>
              <a:rPr lang="en-US" altLang="zh-CN" sz="1100" dirty="0"/>
              <a:t>→ This explains why </a:t>
            </a:r>
            <a:r>
              <a:rPr lang="en-US" altLang="zh-CN" sz="1100" i="1" dirty="0"/>
              <a:t>superfast</a:t>
            </a:r>
            <a:r>
              <a:rPr lang="en-US" altLang="zh-CN" sz="1100" dirty="0"/>
              <a:t> exhibits the </a:t>
            </a:r>
            <a:r>
              <a:rPr lang="en-US" altLang="zh-CN" sz="1100" b="1" dirty="0"/>
              <a:t>lowest counts for almost all PEs</a:t>
            </a:r>
            <a:r>
              <a:rPr lang="en-US" altLang="zh-CN" sz="1100" dirty="0"/>
              <a:t>: the encoder simply “does less work.”</a:t>
            </a:r>
          </a:p>
          <a:p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682528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765E8-4761-6039-231A-7F08AFB23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4950-F8F7-6249-6DC1-701D97CEC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8686"/>
            <a:ext cx="8229240" cy="858600"/>
          </a:xfrm>
        </p:spPr>
        <p:txBody>
          <a:bodyPr/>
          <a:lstStyle/>
          <a:p>
            <a:r>
              <a:rPr lang="en-US" altLang="zh-CN" sz="1800" b="1" dirty="0"/>
              <a:t>Explanation: Why </a:t>
            </a:r>
            <a:r>
              <a:rPr lang="en-US" altLang="zh-CN" sz="1800" b="1" i="1" dirty="0"/>
              <a:t>superfast</a:t>
            </a:r>
            <a:r>
              <a:rPr lang="en-US" altLang="zh-CN" sz="1800" b="1" dirty="0"/>
              <a:t> shows the lowest values for most PEs but the highest D1mr</a:t>
            </a:r>
            <a:br>
              <a:rPr lang="en-US" altLang="zh-CN" sz="1800" b="1" dirty="0"/>
            </a:br>
            <a:endParaRPr lang="zh-CN" alt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3E46C8-EE92-A467-DE18-44C4A157C50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23528" y="1002072"/>
            <a:ext cx="8229240" cy="2982960"/>
          </a:xfrm>
        </p:spPr>
        <p:txBody>
          <a:bodyPr/>
          <a:lstStyle/>
          <a:p>
            <a:r>
              <a:rPr lang="en-US" altLang="zh-CN" sz="1100" b="1" dirty="0"/>
              <a:t>(2) Why D1mr (L1 Data-Read Misses) increases instead</a:t>
            </a:r>
          </a:p>
          <a:p>
            <a:r>
              <a:rPr lang="en-US" altLang="zh-CN" sz="1100" dirty="0"/>
              <a:t>Although </a:t>
            </a:r>
            <a:r>
              <a:rPr lang="en-US" altLang="zh-CN" sz="1100" i="1" dirty="0"/>
              <a:t>superfast</a:t>
            </a:r>
            <a:r>
              <a:rPr lang="en-US" altLang="zh-CN" sz="1100" dirty="0"/>
              <a:t> executes less work overall, its </a:t>
            </a:r>
            <a:r>
              <a:rPr lang="en-US" altLang="zh-CN" sz="1100" b="1" dirty="0"/>
              <a:t>data-access pattern</a:t>
            </a:r>
            <a:r>
              <a:rPr lang="en-US" altLang="zh-CN" sz="1100" dirty="0"/>
              <a:t> becomes more fragmented and less cache-friendly.</a:t>
            </a:r>
          </a:p>
          <a:p>
            <a:r>
              <a:rPr lang="en-US" altLang="zh-CN" sz="1100" b="1" dirty="0"/>
              <a:t>Key reasons:</a:t>
            </a:r>
            <a:endParaRPr lang="en-US" altLang="zh-CN" sz="1100" dirty="0"/>
          </a:p>
          <a:p>
            <a:r>
              <a:rPr lang="en-US" altLang="zh-CN" sz="1100" b="1" dirty="0"/>
              <a:t>Weaker temporal and spatial locality.</a:t>
            </a:r>
            <a:endParaRPr lang="en-US" altLang="zh-CN" sz="1100" dirty="0"/>
          </a:p>
          <a:p>
            <a:pPr lvl="1"/>
            <a:r>
              <a:rPr lang="en-US" altLang="zh-CN" sz="1100" dirty="0"/>
              <a:t>In </a:t>
            </a:r>
            <a:r>
              <a:rPr lang="en-US" altLang="zh-CN" sz="1100" i="1" dirty="0"/>
              <a:t>fast/faster</a:t>
            </a:r>
            <a:r>
              <a:rPr lang="en-US" altLang="zh-CN" sz="1100" dirty="0"/>
              <a:t>, the encoder revisits the same data (pixels, blocks) several times for RDO evaluation, so each cache line is reused multiple times → high L1 reuse.</a:t>
            </a:r>
          </a:p>
          <a:p>
            <a:pPr lvl="1"/>
            <a:r>
              <a:rPr lang="en-US" altLang="zh-CN" sz="1100" dirty="0"/>
              <a:t>In </a:t>
            </a:r>
            <a:r>
              <a:rPr lang="en-US" altLang="zh-CN" sz="1100" i="1" dirty="0"/>
              <a:t>superfast</a:t>
            </a:r>
            <a:r>
              <a:rPr lang="en-US" altLang="zh-CN" sz="1100" dirty="0"/>
              <a:t>, early termination and pruning cause each block to be touched only once or twice, and then the encoder quickly moves to a distant region.</a:t>
            </a:r>
            <a:br>
              <a:rPr lang="en-US" altLang="zh-CN" sz="1100" dirty="0"/>
            </a:br>
            <a:r>
              <a:rPr lang="en-US" altLang="zh-CN" sz="1100" dirty="0"/>
              <a:t>→ The </a:t>
            </a:r>
            <a:r>
              <a:rPr lang="en-US" altLang="zh-CN" sz="1100" b="1" dirty="0"/>
              <a:t>L1 data cache sees more compulsory and capacity misses</a:t>
            </a:r>
            <a:r>
              <a:rPr lang="en-US" altLang="zh-CN" sz="1100" dirty="0"/>
              <a:t>, increasing D1mr even though total reads (Dr) drop.</a:t>
            </a:r>
          </a:p>
          <a:p>
            <a:r>
              <a:rPr lang="en-US" altLang="zh-CN" sz="1100" b="1" dirty="0"/>
              <a:t>Less predictable access pattern for the prefetcher.</a:t>
            </a:r>
            <a:br>
              <a:rPr lang="en-US" altLang="zh-CN" sz="1100" dirty="0"/>
            </a:br>
            <a:r>
              <a:rPr lang="en-US" altLang="zh-CN" sz="1100" dirty="0"/>
              <a:t>Hardware prefetchers rely on regular, sequential accesses.</a:t>
            </a:r>
            <a:br>
              <a:rPr lang="en-US" altLang="zh-CN" sz="1100" dirty="0"/>
            </a:br>
            <a:r>
              <a:rPr lang="en-US" altLang="zh-CN" sz="1100" i="1" dirty="0" err="1"/>
              <a:t>Superfast</a:t>
            </a:r>
            <a:r>
              <a:rPr lang="en-US" altLang="zh-CN" sz="1100" dirty="0" err="1"/>
              <a:t>’s</a:t>
            </a:r>
            <a:r>
              <a:rPr lang="en-US" altLang="zh-CN" sz="1100" dirty="0"/>
              <a:t> shortened loops and irregular early-exit conditions make the access pattern less sequential, so prefetching becomes less effective.</a:t>
            </a:r>
            <a:br>
              <a:rPr lang="en-US" altLang="zh-CN" sz="1100" dirty="0"/>
            </a:br>
            <a:r>
              <a:rPr lang="en-US" altLang="zh-CN" sz="1100" dirty="0"/>
              <a:t>→ Prefetch failures appear as extra </a:t>
            </a:r>
            <a:r>
              <a:rPr lang="en-US" altLang="zh-CN" sz="1100" b="1" dirty="0"/>
              <a:t>L1 data-read misses</a:t>
            </a:r>
            <a:r>
              <a:rPr lang="en-US" altLang="zh-CN" sz="1100" dirty="0"/>
              <a:t>.</a:t>
            </a:r>
          </a:p>
          <a:p>
            <a:r>
              <a:rPr lang="en-US" altLang="zh-CN" sz="1100" b="1" dirty="0"/>
              <a:t>Lower compute-to-access ratio.</a:t>
            </a:r>
            <a:br>
              <a:rPr lang="en-US" altLang="zh-CN" sz="1100" dirty="0"/>
            </a:br>
            <a:r>
              <a:rPr lang="en-US" altLang="zh-CN" sz="1100" dirty="0"/>
              <a:t>Each cache line loaded in </a:t>
            </a:r>
            <a:r>
              <a:rPr lang="en-US" altLang="zh-CN" sz="1100" i="1" dirty="0"/>
              <a:t>superfast</a:t>
            </a:r>
            <a:r>
              <a:rPr lang="en-US" altLang="zh-CN" sz="1100" dirty="0"/>
              <a:t> performs fewer arithmetic operations before being evicted, so cache lines are replaced before full reuse.</a:t>
            </a:r>
            <a:br>
              <a:rPr lang="en-US" altLang="zh-CN" sz="1100" dirty="0"/>
            </a:br>
            <a:r>
              <a:rPr lang="en-US" altLang="zh-CN" sz="1100" dirty="0"/>
              <a:t>→ The </a:t>
            </a:r>
            <a:r>
              <a:rPr lang="en-US" altLang="zh-CN" sz="1100" b="1" dirty="0"/>
              <a:t>L1 miss rate</a:t>
            </a:r>
            <a:r>
              <a:rPr lang="en-US" altLang="zh-CN" sz="1100" dirty="0"/>
              <a:t> (D1mr / Dr) increases, even if the total memory footprint shrinks.</a:t>
            </a:r>
          </a:p>
        </p:txBody>
      </p:sp>
    </p:spTree>
    <p:extLst>
      <p:ext uri="{BB962C8B-B14F-4D97-AF65-F5344CB8AC3E}">
        <p14:creationId xmlns:p14="http://schemas.microsoft.com/office/powerpoint/2010/main" val="3485147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BA94B1-FC2D-FD27-C7CE-4F86E7B8955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51520" y="195486"/>
            <a:ext cx="8229240" cy="2982960"/>
          </a:xfrm>
        </p:spPr>
        <p:txBody>
          <a:bodyPr/>
          <a:lstStyle/>
          <a:p>
            <a:r>
              <a:rPr lang="en-US" altLang="zh-CN" sz="1100" b="1" dirty="0"/>
              <a:t>Interaction with filtering configuration (A vs. B)</a:t>
            </a:r>
          </a:p>
          <a:p>
            <a:pPr lvl="1"/>
            <a:r>
              <a:rPr lang="en-US" altLang="zh-CN" sz="1100" i="1" dirty="0"/>
              <a:t>This phenomenon is driven primarily by the preset itself, not by the SAO/Deblock switch:</a:t>
            </a:r>
          </a:p>
          <a:p>
            <a:pPr lvl="1"/>
            <a:r>
              <a:rPr lang="en-US" altLang="zh-CN" sz="1100" i="1" dirty="0"/>
              <a:t>In both Config A (--no-deblock --</a:t>
            </a:r>
            <a:r>
              <a:rPr lang="en-US" altLang="zh-CN" sz="1100" i="1" dirty="0" err="1"/>
              <a:t>sao</a:t>
            </a:r>
            <a:r>
              <a:rPr lang="en-US" altLang="zh-CN" sz="1100" i="1" dirty="0"/>
              <a:t>) and Config B (--deblock --no-</a:t>
            </a:r>
            <a:r>
              <a:rPr lang="en-US" altLang="zh-CN" sz="1100" i="1" dirty="0" err="1"/>
              <a:t>sao</a:t>
            </a:r>
            <a:r>
              <a:rPr lang="en-US" altLang="zh-CN" sz="1100" i="1" dirty="0"/>
              <a:t>), the same preset mechanism applies.</a:t>
            </a:r>
          </a:p>
          <a:p>
            <a:pPr lvl="1"/>
            <a:r>
              <a:rPr lang="en-US" altLang="zh-CN" sz="1100" i="1" dirty="0"/>
              <a:t>SAO tends to increase memory traffic (Dr, </a:t>
            </a:r>
            <a:r>
              <a:rPr lang="en-US" altLang="zh-CN" sz="1100" i="1" dirty="0" err="1"/>
              <a:t>DLmr</a:t>
            </a:r>
            <a:r>
              <a:rPr lang="en-US" altLang="zh-CN" sz="1100" i="1" dirty="0"/>
              <a:t>), while Deblock increases control-flow complexity (</a:t>
            </a:r>
            <a:r>
              <a:rPr lang="en-US" altLang="zh-CN" sz="1100" i="1" dirty="0" err="1"/>
              <a:t>Bc</a:t>
            </a:r>
            <a:r>
              <a:rPr lang="en-US" altLang="zh-CN" sz="1100" i="1" dirty="0"/>
              <a:t>, Bim).</a:t>
            </a:r>
          </a:p>
          <a:p>
            <a:pPr lvl="1"/>
            <a:r>
              <a:rPr lang="en-US" altLang="zh-CN" sz="1100" i="1" dirty="0"/>
              <a:t>However, the superfast preset’s simplified loop structure dominates both effects, so D1mr remains the largest in both A and B.</a:t>
            </a:r>
          </a:p>
          <a:p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451266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AA61A2B-A830-5190-51E7-8724A44E70F5}"/>
              </a:ext>
            </a:extLst>
          </p:cNvPr>
          <p:cNvSpPr txBox="1"/>
          <p:nvPr/>
        </p:nvSpPr>
        <p:spPr>
          <a:xfrm>
            <a:off x="539552" y="281886"/>
            <a:ext cx="518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dirty="0"/>
              <a:t>Model Performance Comparison </a:t>
            </a:r>
            <a:r>
              <a:rPr lang="en-US" altLang="zh-CN" dirty="0"/>
              <a:t>in </a:t>
            </a:r>
            <a:r>
              <a:rPr lang="en-US" altLang="zh-CN" dirty="0" err="1"/>
              <a:t>Valgrind</a:t>
            </a:r>
            <a:endParaRPr lang="zh-CN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4E431EA-58EB-0CA2-151F-CDA718A8E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636466"/>
              </p:ext>
            </p:extLst>
          </p:nvPr>
        </p:nvGraphicFramePr>
        <p:xfrm>
          <a:off x="861843" y="843558"/>
          <a:ext cx="7200800" cy="2414902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4200445736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34952019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910210007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4292403587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4148021604"/>
                    </a:ext>
                  </a:extLst>
                </a:gridCol>
              </a:tblGrid>
              <a:tr h="5707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 b="1" dirty="0"/>
                        <a:t>Configuration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 b="1" dirty="0"/>
                        <a:t>Model Type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 b="1" dirty="0"/>
                        <a:t>Coefficient of Determination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 b="1" dirty="0"/>
                        <a:t>Root Mean Square Error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100" b="1" dirty="0">
                          <a:solidFill>
                            <a:srgbClr val="FF0000"/>
                          </a:solidFill>
                        </a:rPr>
                        <a:t>Mean Absolute Percentage Error</a:t>
                      </a:r>
                    </a:p>
                  </a:txBody>
                  <a:tcPr marL="72754" marR="72754" marT="36377" marB="36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489521"/>
                  </a:ext>
                </a:extLst>
              </a:tr>
              <a:tr h="3073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default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Linear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0.947848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0.670897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0.04471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208189"/>
                  </a:ext>
                </a:extLst>
              </a:tr>
              <a:tr h="3073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default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XGBoost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0.952514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0.640186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0.027224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533310"/>
                  </a:ext>
                </a:extLst>
              </a:tr>
              <a:tr h="3073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hw-like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Linear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0.912716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0.867938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0.053576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664246"/>
                  </a:ext>
                </a:extLst>
              </a:tr>
              <a:tr h="3073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hw-like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XGBoost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0.929213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0.781622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0.028976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628497"/>
                  </a:ext>
                </a:extLst>
              </a:tr>
              <a:tr h="3073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dis_filter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Linear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0.843153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1.163482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0.060445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251167"/>
                  </a:ext>
                </a:extLst>
              </a:tr>
              <a:tr h="3073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dis_filter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XGBoost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0.82682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1.222559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0.039645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673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A63897C-D40F-E285-6A79-1E7C1B5261FB}"/>
              </a:ext>
            </a:extLst>
          </p:cNvPr>
          <p:cNvSpPr txBox="1"/>
          <p:nvPr/>
        </p:nvSpPr>
        <p:spPr>
          <a:xfrm>
            <a:off x="827584" y="3480505"/>
            <a:ext cx="74888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Configuration：</a:t>
            </a:r>
            <a:endParaRPr lang="en-US" altLang="zh-CN" sz="1050" dirty="0"/>
          </a:p>
          <a:p>
            <a:r>
              <a:rPr lang="en-US" altLang="zh-CN" sz="1050" dirty="0">
                <a:solidFill>
                  <a:srgbClr val="FF0000"/>
                </a:solidFill>
              </a:rPr>
              <a:t>Default: --deblock,--no-</a:t>
            </a:r>
            <a:r>
              <a:rPr lang="en-US" altLang="zh-CN" sz="1050" dirty="0" err="1">
                <a:solidFill>
                  <a:srgbClr val="FF0000"/>
                </a:solidFill>
              </a:rPr>
              <a:t>sao</a:t>
            </a:r>
            <a:br>
              <a:rPr lang="en-US" altLang="zh-CN" sz="1050" dirty="0">
                <a:solidFill>
                  <a:srgbClr val="FF0000"/>
                </a:solidFill>
              </a:rPr>
            </a:br>
            <a:r>
              <a:rPr lang="en-US" altLang="zh-CN" sz="1050" dirty="0">
                <a:solidFill>
                  <a:srgbClr val="FF0000"/>
                </a:solidFill>
              </a:rPr>
              <a:t>Hardware-like: --no-deblock --</a:t>
            </a:r>
            <a:r>
              <a:rPr lang="en-US" altLang="zh-CN" sz="1050" dirty="0" err="1">
                <a:solidFill>
                  <a:srgbClr val="FF0000"/>
                </a:solidFill>
              </a:rPr>
              <a:t>sao</a:t>
            </a:r>
            <a:endParaRPr lang="zh-CN" altLang="en-US" sz="1050" dirty="0">
              <a:solidFill>
                <a:srgbClr val="FF0000"/>
              </a:solidFill>
            </a:endParaRPr>
          </a:p>
          <a:p>
            <a:r>
              <a:rPr lang="de-DE" altLang="zh-CN" sz="1050" dirty="0">
                <a:solidFill>
                  <a:srgbClr val="FF0000"/>
                </a:solidFill>
              </a:rPr>
              <a:t>dis_filter</a:t>
            </a:r>
            <a:r>
              <a:rPr lang="en-US" altLang="zh-CN" sz="1050" dirty="0">
                <a:solidFill>
                  <a:srgbClr val="FF0000"/>
                </a:solidFill>
              </a:rPr>
              <a:t>:--no-deblock</a:t>
            </a:r>
            <a:r>
              <a:rPr lang="zh-CN" altLang="en-US" sz="1050" dirty="0">
                <a:solidFill>
                  <a:srgbClr val="FF0000"/>
                </a:solidFill>
              </a:rPr>
              <a:t>  </a:t>
            </a:r>
            <a:r>
              <a:rPr lang="en-US" altLang="zh-CN" sz="1050" dirty="0">
                <a:solidFill>
                  <a:srgbClr val="FF0000"/>
                </a:solidFill>
              </a:rPr>
              <a:t>--no-</a:t>
            </a:r>
            <a:r>
              <a:rPr lang="en-US" altLang="zh-CN" sz="1050" dirty="0" err="1">
                <a:solidFill>
                  <a:srgbClr val="FF0000"/>
                </a:solidFill>
              </a:rPr>
              <a:t>sao</a:t>
            </a:r>
            <a:endParaRPr lang="de-DE" altLang="zh-CN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010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BEABD-2B4B-59F7-57B8-6BA285BEE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2BD3938-062D-799C-C997-4C04D9D25C2B}"/>
              </a:ext>
            </a:extLst>
          </p:cNvPr>
          <p:cNvSpPr txBox="1"/>
          <p:nvPr/>
        </p:nvSpPr>
        <p:spPr>
          <a:xfrm>
            <a:off x="683568" y="26749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MAPE </a:t>
            </a:r>
            <a:r>
              <a:rPr lang="de-DE" altLang="zh-CN" dirty="0"/>
              <a:t>by preset</a:t>
            </a:r>
            <a:endParaRPr lang="zh-CN" alt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A1C4C5-E782-B9B8-5EB1-A0824D5DB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959495"/>
              </p:ext>
            </p:extLst>
          </p:nvPr>
        </p:nvGraphicFramePr>
        <p:xfrm>
          <a:off x="971600" y="1203598"/>
          <a:ext cx="7416824" cy="1944215"/>
        </p:xfrm>
        <a:graphic>
          <a:graphicData uri="http://schemas.openxmlformats.org/drawingml/2006/table">
            <a:tbl>
              <a:tblPr/>
              <a:tblGrid>
                <a:gridCol w="1019814">
                  <a:extLst>
                    <a:ext uri="{9D8B030D-6E8A-4147-A177-3AD203B41FA5}">
                      <a16:colId xmlns:a16="http://schemas.microsoft.com/office/drawing/2014/main" val="505081022"/>
                    </a:ext>
                  </a:extLst>
                </a:gridCol>
                <a:gridCol w="927103">
                  <a:extLst>
                    <a:ext uri="{9D8B030D-6E8A-4147-A177-3AD203B41FA5}">
                      <a16:colId xmlns:a16="http://schemas.microsoft.com/office/drawing/2014/main" val="4182858982"/>
                    </a:ext>
                  </a:extLst>
                </a:gridCol>
                <a:gridCol w="927103">
                  <a:extLst>
                    <a:ext uri="{9D8B030D-6E8A-4147-A177-3AD203B41FA5}">
                      <a16:colId xmlns:a16="http://schemas.microsoft.com/office/drawing/2014/main" val="221220056"/>
                    </a:ext>
                  </a:extLst>
                </a:gridCol>
                <a:gridCol w="927103">
                  <a:extLst>
                    <a:ext uri="{9D8B030D-6E8A-4147-A177-3AD203B41FA5}">
                      <a16:colId xmlns:a16="http://schemas.microsoft.com/office/drawing/2014/main" val="305772886"/>
                    </a:ext>
                  </a:extLst>
                </a:gridCol>
                <a:gridCol w="927103">
                  <a:extLst>
                    <a:ext uri="{9D8B030D-6E8A-4147-A177-3AD203B41FA5}">
                      <a16:colId xmlns:a16="http://schemas.microsoft.com/office/drawing/2014/main" val="3713447636"/>
                    </a:ext>
                  </a:extLst>
                </a:gridCol>
                <a:gridCol w="1205234">
                  <a:extLst>
                    <a:ext uri="{9D8B030D-6E8A-4147-A177-3AD203B41FA5}">
                      <a16:colId xmlns:a16="http://schemas.microsoft.com/office/drawing/2014/main" val="169105072"/>
                    </a:ext>
                  </a:extLst>
                </a:gridCol>
                <a:gridCol w="1483364">
                  <a:extLst>
                    <a:ext uri="{9D8B030D-6E8A-4147-A177-3AD203B41FA5}">
                      <a16:colId xmlns:a16="http://schemas.microsoft.com/office/drawing/2014/main" val="183815356"/>
                    </a:ext>
                  </a:extLst>
                </a:gridCol>
              </a:tblGrid>
              <a:tr h="3888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hw-like_linear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hw-like_xgb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default_linear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default_xgb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hw-like-minus-default_xgb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hw-like-minus-default_linear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314637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fast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0.049504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0.027099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0.041749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0.027794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-0.00069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0.007756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570332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faster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0.047391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0.02382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0.041911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0.028189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-0.00437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0.005481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104036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veryfast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0.053688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0.033072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0.040332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0.02611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0.006962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0.013356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872656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superfast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0.056284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0.026374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0.037396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0.028025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-0.00165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0.018888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068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475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F687-B765-3623-3865-426A87F4B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987574"/>
            <a:ext cx="2736304" cy="345247"/>
          </a:xfrm>
        </p:spPr>
        <p:txBody>
          <a:bodyPr/>
          <a:lstStyle/>
          <a:p>
            <a:r>
              <a:rPr lang="de-DE" altLang="zh-CN" sz="1800" dirty="0">
                <a:latin typeface="+mn-lt"/>
                <a:ea typeface="+mn-ea"/>
                <a:cs typeface="+mn-cs"/>
              </a:rPr>
              <a:t>callgrind_features_mean</a:t>
            </a:r>
            <a:endParaRPr lang="zh-CN" altLang="en-US" sz="1800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19D9AC-883C-8379-9BFD-A77DF60B0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315065"/>
              </p:ext>
            </p:extLst>
          </p:nvPr>
        </p:nvGraphicFramePr>
        <p:xfrm>
          <a:off x="179512" y="1419622"/>
          <a:ext cx="8445262" cy="435972"/>
        </p:xfrm>
        <a:graphic>
          <a:graphicData uri="http://schemas.openxmlformats.org/drawingml/2006/table">
            <a:tbl>
              <a:tblPr/>
              <a:tblGrid>
                <a:gridCol w="603233">
                  <a:extLst>
                    <a:ext uri="{9D8B030D-6E8A-4147-A177-3AD203B41FA5}">
                      <a16:colId xmlns:a16="http://schemas.microsoft.com/office/drawing/2014/main" val="3694846016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18026672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3872501540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2741806121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2586792283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118917092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2118448035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242397785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4173865033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1062024994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1905438653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2361533307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30506656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2748039235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config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Dw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I1mr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D1mr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D1mw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ILmr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DLmr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DLmw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Bc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Bcm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Bi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Bim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617590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default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1.56E+12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4.17E+11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1.95E+11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1.13E+10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3.61E+09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2.9E+09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802701.9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1.07E+08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1.3E+08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9.96E+10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8.4E+09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1.04E+10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1.09E+09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272606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hw-like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1.55E+12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4.14E+11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1.92E+11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1.18E+10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3.5E+09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2.83E+09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752709.7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1.06E+08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1.13E+08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9.73E+10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8.17E+09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1.02E+10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1.06E+09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0491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26CE43-64C1-B8A2-5499-E1711D1C8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110825"/>
              </p:ext>
            </p:extLst>
          </p:nvPr>
        </p:nvGraphicFramePr>
        <p:xfrm>
          <a:off x="179512" y="2452013"/>
          <a:ext cx="8445262" cy="465363"/>
        </p:xfrm>
        <a:graphic>
          <a:graphicData uri="http://schemas.openxmlformats.org/drawingml/2006/table">
            <a:tbl>
              <a:tblPr/>
              <a:tblGrid>
                <a:gridCol w="603233">
                  <a:extLst>
                    <a:ext uri="{9D8B030D-6E8A-4147-A177-3AD203B41FA5}">
                      <a16:colId xmlns:a16="http://schemas.microsoft.com/office/drawing/2014/main" val="3304837314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2394538169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2928432632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1362522093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2826673887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70774676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1688691700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1339151858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855336339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1162733573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2238761293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1113647388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2151533796"/>
                    </a:ext>
                  </a:extLst>
                </a:gridCol>
                <a:gridCol w="603233">
                  <a:extLst>
                    <a:ext uri="{9D8B030D-6E8A-4147-A177-3AD203B41FA5}">
                      <a16:colId xmlns:a16="http://schemas.microsoft.com/office/drawing/2014/main" val="1304178815"/>
                    </a:ext>
                  </a:extLst>
                </a:gridCol>
              </a:tblGrid>
              <a:tr h="1551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config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Dw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I1mr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D1mr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D1mw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ILmr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DLmr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DLmw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Bc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Bcm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Bi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Bim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760253"/>
                  </a:ext>
                </a:extLst>
              </a:tr>
              <a:tr h="1551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default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0.689685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0.696727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0.702575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0.715976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0.773906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0.737799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1.055991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0.929259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0.805369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0.686285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0.685888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0.714897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0.744648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200094"/>
                  </a:ext>
                </a:extLst>
              </a:tr>
              <a:tr h="1551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hw-like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0.638134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0.647004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0.65339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0.676518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0.742949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0.703052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1.02037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0.848605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0.783644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0.640444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0.634727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0.67361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0.709446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9256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12AAF4B-310B-D461-5490-80C5A6B0302D}"/>
              </a:ext>
            </a:extLst>
          </p:cNvPr>
          <p:cNvSpPr txBox="1"/>
          <p:nvPr/>
        </p:nvSpPr>
        <p:spPr>
          <a:xfrm>
            <a:off x="107504" y="206769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callgrind_features_cv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28D85C-3197-4045-C88D-B74851D502BE}"/>
              </a:ext>
            </a:extLst>
          </p:cNvPr>
          <p:cNvSpPr txBox="1"/>
          <p:nvPr/>
        </p:nvSpPr>
        <p:spPr>
          <a:xfrm>
            <a:off x="107504" y="298724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callgrind_features_stddev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501F8FA-C4F1-4B03-7B8F-699CBB8C7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230352"/>
              </p:ext>
            </p:extLst>
          </p:nvPr>
        </p:nvGraphicFramePr>
        <p:xfrm>
          <a:off x="179512" y="3441424"/>
          <a:ext cx="8229606" cy="465363"/>
        </p:xfrm>
        <a:graphic>
          <a:graphicData uri="http://schemas.openxmlformats.org/drawingml/2006/table">
            <a:tbl>
              <a:tblPr/>
              <a:tblGrid>
                <a:gridCol w="587829">
                  <a:extLst>
                    <a:ext uri="{9D8B030D-6E8A-4147-A177-3AD203B41FA5}">
                      <a16:colId xmlns:a16="http://schemas.microsoft.com/office/drawing/2014/main" val="3960639116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011991980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3526742765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466110992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1636777630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4173061903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949299827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1702296643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93339447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820288297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899193961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594693591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799804099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1598306793"/>
                    </a:ext>
                  </a:extLst>
                </a:gridCol>
              </a:tblGrid>
              <a:tr h="1551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config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Dw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I1mr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D1mr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D1mw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ILmr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DLmr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DLmw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Bc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Bcm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Bi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Bim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418081"/>
                  </a:ext>
                </a:extLst>
              </a:tr>
              <a:tr h="1551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default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1.08E+12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2.9E+11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1.37E+11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8.12E+09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2.79E+09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2.14E+09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847645.9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99675426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1.04E+08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6.83E+10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5.76E+09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7.44E+09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8.1E+08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170285"/>
                  </a:ext>
                </a:extLst>
              </a:tr>
              <a:tr h="1551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hw-like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9.89E+11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2.68E+11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1.26E+11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7.98E+09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2.6E+09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1.99E+09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768042.3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90107762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88559455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6.23E+10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5.18E+09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6.84E+09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7.53E+08</a:t>
                      </a:r>
                    </a:p>
                  </a:txBody>
                  <a:tcPr marL="8164" marR="8164" marT="81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412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753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DF79B-92D9-6A56-7C74-55AE5F11A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80815"/>
            <a:ext cx="8229240" cy="858600"/>
          </a:xfrm>
        </p:spPr>
        <p:txBody>
          <a:bodyPr/>
          <a:lstStyle/>
          <a:p>
            <a:r>
              <a:rPr lang="en-US" altLang="zh-CN" sz="2400" dirty="0"/>
              <a:t>'Perf Basic' vs. 'Perf Extended'</a:t>
            </a:r>
            <a:endParaRPr lang="zh-CN" alt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BF8B4-6014-15F8-324B-6626055D738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23528" y="627534"/>
            <a:ext cx="8229240" cy="750594"/>
          </a:xfrm>
        </p:spPr>
        <p:txBody>
          <a:bodyPr/>
          <a:lstStyle/>
          <a:p>
            <a:r>
              <a:rPr lang="en-US" altLang="zh-CN" sz="1100" b="1" dirty="0"/>
              <a:t>Key Difference:</a:t>
            </a:r>
            <a:r>
              <a:rPr lang="en-US" altLang="zh-CN" sz="1100" dirty="0"/>
              <a:t> The 'Perf Extended' dataset provides crucial, fine-grained data on the </a:t>
            </a:r>
            <a:r>
              <a:rPr lang="en-US" altLang="zh-CN" sz="1100" b="1" dirty="0"/>
              <a:t>Last-Level Cache (LLC)</a:t>
            </a:r>
            <a:r>
              <a:rPr lang="en-US" altLang="zh-CN" sz="1100" dirty="0"/>
              <a:t> and the </a:t>
            </a:r>
            <a:r>
              <a:rPr lang="en-US" altLang="zh-CN" sz="1100" b="1" dirty="0"/>
              <a:t>Branch Prediction Unit</a:t>
            </a:r>
            <a:r>
              <a:rPr lang="en-US" altLang="zh-CN" sz="1100" dirty="0"/>
              <a:t>, which is absent in the 'Basic' set.</a:t>
            </a:r>
            <a:endParaRPr lang="zh-CN" altLang="en-US" sz="11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854A3E-5118-4DAF-D9D5-3F907E636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269515"/>
              </p:ext>
            </p:extLst>
          </p:nvPr>
        </p:nvGraphicFramePr>
        <p:xfrm>
          <a:off x="539552" y="1203598"/>
          <a:ext cx="8280920" cy="2789799"/>
        </p:xfrm>
        <a:graphic>
          <a:graphicData uri="http://schemas.openxmlformats.org/drawingml/2006/table">
            <a:tbl>
              <a:tblPr/>
              <a:tblGrid>
                <a:gridCol w="1656184">
                  <a:extLst>
                    <a:ext uri="{9D8B030D-6E8A-4147-A177-3AD203B41FA5}">
                      <a16:colId xmlns:a16="http://schemas.microsoft.com/office/drawing/2014/main" val="404686604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4139405173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767601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935029768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859040675"/>
                    </a:ext>
                  </a:extLst>
                </a:gridCol>
              </a:tblGrid>
              <a:tr h="28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b="1"/>
                        <a:t>Category</a:t>
                      </a:r>
                      <a:endParaRPr lang="de-DE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b="1"/>
                        <a:t>Event Name</a:t>
                      </a:r>
                      <a:endParaRPr lang="de-DE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050" b="1" dirty="0"/>
                        <a:t>Perf Basic</a:t>
                      </a:r>
                      <a:endParaRPr lang="de-DE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050" b="1" dirty="0"/>
                        <a:t>Perf Extended</a:t>
                      </a:r>
                      <a:endParaRPr lang="de-DE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Description / Significance for Energy Modeling</a:t>
                      </a:r>
                      <a:endParaRPr lang="en-US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382308"/>
                  </a:ext>
                </a:extLst>
              </a:tr>
              <a:tr h="4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b="1" dirty="0"/>
                        <a:t>Instruction Execution</a:t>
                      </a:r>
                      <a:endParaRPr lang="de-DE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dirty="0">
                          <a:latin typeface="Courier New" panose="02070309020205020404" pitchFamily="49" charset="0"/>
                        </a:rPr>
                        <a:t>instructions</a:t>
                      </a:r>
                      <a:endParaRPr lang="de-DE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Number of retired instructions; key for IPC (Instructions per Cycle).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140547"/>
                  </a:ext>
                </a:extLst>
              </a:tr>
              <a:tr h="34896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>
                          <a:latin typeface="Courier New" panose="02070309020205020404" pitchFamily="49" charset="0"/>
                        </a:rPr>
                        <a:t>cycles</a:t>
                      </a:r>
                      <a:endParaRPr lang="de-DE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Total CPU cycles; base for performance normalization.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88148"/>
                  </a:ext>
                </a:extLst>
              </a:tr>
              <a:tr h="283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b="1"/>
                        <a:t>Branch Prediction</a:t>
                      </a:r>
                      <a:endParaRPr lang="de-DE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dirty="0">
                          <a:latin typeface="Courier New" panose="02070309020205020404" pitchFamily="49" charset="0"/>
                        </a:rPr>
                        <a:t>branches</a:t>
                      </a:r>
                      <a:r>
                        <a:rPr lang="de-DE" sz="1050" dirty="0"/>
                        <a:t> / </a:t>
                      </a:r>
                      <a:r>
                        <a:rPr lang="de-DE" sz="1050" dirty="0">
                          <a:latin typeface="Courier New" panose="02070309020205020404" pitchFamily="49" charset="0"/>
                        </a:rPr>
                        <a:t>branch-instructions</a:t>
                      </a:r>
                      <a:endParaRPr lang="de-DE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Total number of branch instructions executed.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019254"/>
                  </a:ext>
                </a:extLst>
              </a:tr>
              <a:tr h="54526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dirty="0">
                          <a:latin typeface="Courier New" panose="02070309020205020404" pitchFamily="49" charset="0"/>
                        </a:rPr>
                        <a:t>branch-misses</a:t>
                      </a:r>
                      <a:endParaRPr lang="de-DE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dirty="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Mispredicted branches; higher miss rate → more pipeline flushes and wasted energy.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732776"/>
                  </a:ext>
                </a:extLst>
              </a:tr>
              <a:tr h="479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b="1"/>
                        <a:t>Cache Hierarchy (L1–L3)</a:t>
                      </a:r>
                      <a:endParaRPr lang="de-DE" sz="105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50" dirty="0">
                          <a:latin typeface="Courier New" panose="02070309020205020404" pitchFamily="49" charset="0"/>
                        </a:rPr>
                        <a:t>cache-references</a:t>
                      </a:r>
                      <a:endParaRPr lang="de-DE" sz="105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dirty="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Total cache accesses; higher value indicates memory-intensive workload.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990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962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4A0128-E5F8-8206-963A-7C997C56E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457714"/>
              </p:ext>
            </p:extLst>
          </p:nvPr>
        </p:nvGraphicFramePr>
        <p:xfrm>
          <a:off x="426370" y="771550"/>
          <a:ext cx="8291260" cy="3771084"/>
        </p:xfrm>
        <a:graphic>
          <a:graphicData uri="http://schemas.openxmlformats.org/drawingml/2006/table">
            <a:tbl>
              <a:tblPr/>
              <a:tblGrid>
                <a:gridCol w="1658252">
                  <a:extLst>
                    <a:ext uri="{9D8B030D-6E8A-4147-A177-3AD203B41FA5}">
                      <a16:colId xmlns:a16="http://schemas.microsoft.com/office/drawing/2014/main" val="727236285"/>
                    </a:ext>
                  </a:extLst>
                </a:gridCol>
                <a:gridCol w="1658252">
                  <a:extLst>
                    <a:ext uri="{9D8B030D-6E8A-4147-A177-3AD203B41FA5}">
                      <a16:colId xmlns:a16="http://schemas.microsoft.com/office/drawing/2014/main" val="861382998"/>
                    </a:ext>
                  </a:extLst>
                </a:gridCol>
                <a:gridCol w="1658252">
                  <a:extLst>
                    <a:ext uri="{9D8B030D-6E8A-4147-A177-3AD203B41FA5}">
                      <a16:colId xmlns:a16="http://schemas.microsoft.com/office/drawing/2014/main" val="592224100"/>
                    </a:ext>
                  </a:extLst>
                </a:gridCol>
                <a:gridCol w="1658252">
                  <a:extLst>
                    <a:ext uri="{9D8B030D-6E8A-4147-A177-3AD203B41FA5}">
                      <a16:colId xmlns:a16="http://schemas.microsoft.com/office/drawing/2014/main" val="3735673071"/>
                    </a:ext>
                  </a:extLst>
                </a:gridCol>
                <a:gridCol w="1658252">
                  <a:extLst>
                    <a:ext uri="{9D8B030D-6E8A-4147-A177-3AD203B41FA5}">
                      <a16:colId xmlns:a16="http://schemas.microsoft.com/office/drawing/2014/main" val="1599880584"/>
                    </a:ext>
                  </a:extLst>
                </a:gridCol>
              </a:tblGrid>
              <a:tr h="105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b="1" dirty="0"/>
                        <a:t>Category</a:t>
                      </a:r>
                      <a:endParaRPr lang="de-DE" sz="80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b="1"/>
                        <a:t>Event Name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800" b="1"/>
                        <a:t>Perf Basic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800" b="1"/>
                        <a:t>Perf Extended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/>
                        <a:t>Description / Significance for Energy Modeling</a:t>
                      </a:r>
                      <a:endParaRPr lang="en-US" sz="80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285608"/>
                  </a:ext>
                </a:extLst>
              </a:tr>
              <a:tr h="1540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l1-dcache-loads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dirty="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L1 data cache read operations; measures locality of data access.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82190"/>
                  </a:ext>
                </a:extLst>
              </a:tr>
              <a:tr h="1540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dirty="0">
                          <a:latin typeface="Courier New" panose="02070309020205020404" pitchFamily="49" charset="0"/>
                        </a:rPr>
                        <a:t>l1-dcache-load-misses</a:t>
                      </a:r>
                      <a:endParaRPr lang="de-DE" sz="80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L1D load misses; indicates front-end memory pressure.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474310"/>
                  </a:ext>
                </a:extLst>
              </a:tr>
              <a:tr h="1540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l1-dcache-stores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L1 data cache write operations; related to store buffer usage.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503151"/>
                  </a:ext>
                </a:extLst>
              </a:tr>
              <a:tr h="1540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dirty="0">
                          <a:latin typeface="Courier New" panose="02070309020205020404" pitchFamily="49" charset="0"/>
                        </a:rPr>
                        <a:t>l1-icache-load-misses</a:t>
                      </a:r>
                      <a:endParaRPr lang="de-DE" sz="800" dirty="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L1 instruction cache misses; reflects instruction fetch efficiency.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41577"/>
                  </a:ext>
                </a:extLst>
              </a:tr>
              <a:tr h="129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b="1"/>
                        <a:t>Last-Level Cache (LLC)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llc-loads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LLC read operations; represents traffic to last-level cache.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745666"/>
                  </a:ext>
                </a:extLst>
              </a:tr>
              <a:tr h="12969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llc-load-misses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dirty="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LLC read misses; causes DRAM access, high energy cost.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234818"/>
                  </a:ext>
                </a:extLst>
              </a:tr>
              <a:tr h="154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b="1"/>
                        <a:t>Memory Translation (TLB)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dtlb-loads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Data TLB lookups; frequent in memory-bound workloads.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364306"/>
                  </a:ext>
                </a:extLst>
              </a:tr>
              <a:tr h="12969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dtlb-load-misses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dirty="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Data TLB misses; lead to page walks and memory stalls.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519708"/>
                  </a:ext>
                </a:extLst>
              </a:tr>
              <a:tr h="12969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dtlb-stores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Store-side TLB lookups; measure of memory write translations.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667590"/>
                  </a:ext>
                </a:extLst>
              </a:tr>
              <a:tr h="1540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dtlb-store-misses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dirty="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Store-side TLB misses; additional address translation overhead.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435348"/>
                  </a:ext>
                </a:extLst>
              </a:tr>
              <a:tr h="178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b="1"/>
                        <a:t>Pipeline Stalls / Bus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stalled-cycles-frontend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Cycles stalled in instruction fetch/decoding; linked to I-cache and branch issues.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158903"/>
                  </a:ext>
                </a:extLst>
              </a:tr>
              <a:tr h="17832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stalled-cycles-backend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❌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Cycles stalled in execution/retirement; indicates memory bottlenecks.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788478"/>
                  </a:ext>
                </a:extLst>
              </a:tr>
              <a:tr h="1540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>
                          <a:latin typeface="Courier New" panose="02070309020205020404" pitchFamily="49" charset="0"/>
                        </a:rPr>
                        <a:t>bus-cycles</a:t>
                      </a:r>
                      <a:endParaRPr lang="de-DE" sz="800"/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/>
                        <a:t>✅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Total bus activity cycles; proxy for interconnect and DRAM activity.</a:t>
                      </a:r>
                    </a:p>
                  </a:txBody>
                  <a:tcPr marL="8106" marR="8106" marT="4053" marB="4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171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567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4F4DA7-1C91-812B-F8BE-1270092A1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567542"/>
              </p:ext>
            </p:extLst>
          </p:nvPr>
        </p:nvGraphicFramePr>
        <p:xfrm>
          <a:off x="611560" y="987574"/>
          <a:ext cx="8136903" cy="3024335"/>
        </p:xfrm>
        <a:graphic>
          <a:graphicData uri="http://schemas.openxmlformats.org/drawingml/2006/table">
            <a:tbl>
              <a:tblPr/>
              <a:tblGrid>
                <a:gridCol w="2712301">
                  <a:extLst>
                    <a:ext uri="{9D8B030D-6E8A-4147-A177-3AD203B41FA5}">
                      <a16:colId xmlns:a16="http://schemas.microsoft.com/office/drawing/2014/main" val="1398199878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2523132726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3148211962"/>
                    </a:ext>
                  </a:extLst>
                </a:gridCol>
              </a:tblGrid>
              <a:tr h="345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dirty="0"/>
                        <a:t>Metric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/>
                        <a:t>Perf Basic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/>
                        <a:t>Perf Extended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224771"/>
                  </a:ext>
                </a:extLst>
              </a:tr>
              <a:tr h="345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/>
                        <a:t>Total Events</a:t>
                      </a:r>
                      <a:endParaRPr lang="de-DE" sz="1400"/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11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18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663143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/>
                        <a:t>Focus Level</a:t>
                      </a:r>
                      <a:endParaRPr lang="de-DE" sz="1400"/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/>
                        <a:t>Core + L3 Cache + Branch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Full Memory Hierarchy (L1–L3 + TLB + Stall)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843576"/>
                  </a:ext>
                </a:extLst>
              </a:tr>
              <a:tr h="8645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/>
                        <a:t>Profiling Depth</a:t>
                      </a:r>
                      <a:endParaRPr lang="de-DE" sz="1400"/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/>
                        <a:t>Coarse-grained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/>
                        <a:t>Fine-grained microarchitectural coverage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922230"/>
                  </a:ext>
                </a:extLst>
              </a:tr>
              <a:tr h="8645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/>
                        <a:t>Usefulness for Energy Modeling</a:t>
                      </a:r>
                      <a:endParaRPr lang="de-DE" sz="1400"/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Limited (aggregate CPU load only)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High (explicit memory and stall-related behaviors)</a:t>
                      </a:r>
                    </a:p>
                  </a:txBody>
                  <a:tcPr marL="85226" marR="85226" marT="42613" marB="426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6704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891B58-EB9D-06EA-E8CB-3188B4E2FB83}"/>
              </a:ext>
            </a:extLst>
          </p:cNvPr>
          <p:cNvSpPr txBox="1"/>
          <p:nvPr/>
        </p:nvSpPr>
        <p:spPr>
          <a:xfrm>
            <a:off x="539552" y="26749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🧩 </a:t>
            </a:r>
            <a:r>
              <a:rPr lang="de-DE" altLang="zh-CN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778346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C45A-7D3F-18A8-3354-941849F10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638358"/>
          </a:xfrm>
        </p:spPr>
        <p:txBody>
          <a:bodyPr/>
          <a:lstStyle/>
          <a:p>
            <a:r>
              <a:rPr lang="de-DE" altLang="zh-CN" sz="2400" dirty="0"/>
              <a:t>CPU Architecture Comparison</a:t>
            </a:r>
            <a:r>
              <a:rPr lang="zh-CN" altLang="en-US" sz="2400" dirty="0"/>
              <a:t>：</a:t>
            </a:r>
            <a:r>
              <a:rPr lang="de-DE" altLang="zh-CN" sz="2400" dirty="0"/>
              <a:t>AMD vs Intel</a:t>
            </a:r>
            <a:endParaRPr lang="zh-CN" alt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3EFC8C-476D-7028-C7AF-4A0597858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067062"/>
              </p:ext>
            </p:extLst>
          </p:nvPr>
        </p:nvGraphicFramePr>
        <p:xfrm>
          <a:off x="323528" y="831261"/>
          <a:ext cx="8712972" cy="4281634"/>
        </p:xfrm>
        <a:graphic>
          <a:graphicData uri="http://schemas.openxmlformats.org/drawingml/2006/table">
            <a:tbl>
              <a:tblPr/>
              <a:tblGrid>
                <a:gridCol w="2178243">
                  <a:extLst>
                    <a:ext uri="{9D8B030D-6E8A-4147-A177-3AD203B41FA5}">
                      <a16:colId xmlns:a16="http://schemas.microsoft.com/office/drawing/2014/main" val="1382740356"/>
                    </a:ext>
                  </a:extLst>
                </a:gridCol>
                <a:gridCol w="2178243">
                  <a:extLst>
                    <a:ext uri="{9D8B030D-6E8A-4147-A177-3AD203B41FA5}">
                      <a16:colId xmlns:a16="http://schemas.microsoft.com/office/drawing/2014/main" val="2992524451"/>
                    </a:ext>
                  </a:extLst>
                </a:gridCol>
                <a:gridCol w="2178243">
                  <a:extLst>
                    <a:ext uri="{9D8B030D-6E8A-4147-A177-3AD203B41FA5}">
                      <a16:colId xmlns:a16="http://schemas.microsoft.com/office/drawing/2014/main" val="1033850558"/>
                    </a:ext>
                  </a:extLst>
                </a:gridCol>
                <a:gridCol w="2178243">
                  <a:extLst>
                    <a:ext uri="{9D8B030D-6E8A-4147-A177-3AD203B41FA5}">
                      <a16:colId xmlns:a16="http://schemas.microsoft.com/office/drawing/2014/main" val="3303906887"/>
                    </a:ext>
                  </a:extLst>
                </a:gridCol>
              </a:tblGrid>
              <a:tr h="128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Metric / Event</a:t>
                      </a:r>
                      <a:endParaRPr lang="de-DE" sz="900" dirty="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Intel CPU</a:t>
                      </a:r>
                      <a:endParaRPr lang="de-DE" sz="900" dirty="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AMD CPU</a:t>
                      </a:r>
                      <a:endParaRPr lang="de-DE" sz="900" dirty="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Interpretation (Energy Impact)</a:t>
                      </a:r>
                      <a:endParaRPr lang="de-DE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563282"/>
                  </a:ext>
                </a:extLst>
              </a:tr>
              <a:tr h="515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IPC (Instructions per Cycle)</a:t>
                      </a:r>
                      <a:endParaRPr lang="de-DE" sz="900" dirty="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~2.2 (higher)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~1.8 (lower)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Intel’s wider front-end and deeper out-of-order pipeline achieve higher instruction throughput, resulting in better energy efficiency per instruction.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170185"/>
                  </a:ext>
                </a:extLst>
              </a:tr>
              <a:tr h="404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Cycles</a:t>
                      </a:r>
                      <a:endParaRPr lang="de-DE" sz="900" dirty="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Fewer total cycles for same workload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More cycles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AMD requires more cycles to retire the same workload → higher dynamic power and execution time.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633336"/>
                  </a:ext>
                </a:extLst>
              </a:tr>
              <a:tr h="404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L1D Cache Miss Rate</a:t>
                      </a:r>
                      <a:endParaRPr lang="de-DE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Lower (~1.2%)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Higher (~1.6%)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Intel’s L1 data cache and prefetchers are more effective, reducing frequent DRAM accesses and energy cost.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658116"/>
                  </a:ext>
                </a:extLst>
              </a:tr>
              <a:tr h="294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L1I Cache Miss Rate</a:t>
                      </a:r>
                      <a:endParaRPr lang="de-DE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Slightly lower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Slightly higher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Intel has more robust instruction fetch logic, minimizing front-end stalls.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965508"/>
                  </a:ext>
                </a:extLst>
              </a:tr>
              <a:tr h="294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LLC (Last-Level Cache) Miss Rate</a:t>
                      </a:r>
                      <a:endParaRPr lang="en-US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Similar (~20%)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Similar (~22%)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Comparable DRAM traffic; LLC hierarchy design differences have minor impact.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843674"/>
                  </a:ext>
                </a:extLst>
              </a:tr>
              <a:tr h="404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Branch Miss Rate</a:t>
                      </a:r>
                      <a:endParaRPr lang="de-DE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Lower (~3%)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Higher (~5%)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Intel’s branch predictor reduces pipeline flushes; AMD’s higher misprediction cost increases wasted energy.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645057"/>
                  </a:ext>
                </a:extLst>
              </a:tr>
              <a:tr h="349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TLB Miss Rate (Data/Instruction)</a:t>
                      </a:r>
                      <a:endParaRPr lang="en-US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Lower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Higher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AMD’s translation lookaside buffer slightly smaller, causing more page walks and memory latency.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026184"/>
                  </a:ext>
                </a:extLst>
              </a:tr>
              <a:tr h="349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Stalled Cycles (Frontend)</a:t>
                      </a:r>
                      <a:endParaRPr lang="de-DE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Fewer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More frequent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AMD’s deeper pipeline leads to more frontend idling, especially under irregular branch workloads.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727501"/>
                  </a:ext>
                </a:extLst>
              </a:tr>
              <a:tr h="404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Stalled Cycles (Backend)</a:t>
                      </a:r>
                      <a:endParaRPr lang="de-DE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Fewer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More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Indicates Intel executes memory operations more efficiently, with better MLP (Memory-Level Parallelism).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0622"/>
                  </a:ext>
                </a:extLst>
              </a:tr>
              <a:tr h="349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Bus Cycles / DRAM Accesses</a:t>
                      </a:r>
                      <a:endParaRPr lang="de-DE" sz="900"/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Lower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Higher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AMD exhibits more external memory activity → higher DRAM power consumption.</a:t>
                      </a:r>
                    </a:p>
                  </a:txBody>
                  <a:tcPr marL="14070" marR="14070" marT="7035" marB="70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31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274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BC929-AD2C-BE6A-858D-F308A419B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422334"/>
          </a:xfrm>
        </p:spPr>
        <p:txBody>
          <a:bodyPr/>
          <a:lstStyle/>
          <a:p>
            <a:r>
              <a:rPr lang="de-DE" altLang="zh-CN" sz="2400" b="1" dirty="0"/>
              <a:t>The Overlap </a:t>
            </a:r>
            <a:r>
              <a:rPr lang="en-US" altLang="zh-CN" sz="2400" b="1" dirty="0"/>
              <a:t>of </a:t>
            </a:r>
            <a:r>
              <a:rPr lang="en-US" altLang="zh-CN" sz="2400" b="1" dirty="0" err="1"/>
              <a:t>valgrind</a:t>
            </a:r>
            <a:r>
              <a:rPr lang="en-US" altLang="zh-CN" sz="2400" b="1" dirty="0"/>
              <a:t> &amp; perf</a:t>
            </a:r>
            <a:endParaRPr lang="de-DE" altLang="zh-CN" sz="24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41341F-0FF7-CD51-BB02-39BEDB112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208525"/>
              </p:ext>
            </p:extLst>
          </p:nvPr>
        </p:nvGraphicFramePr>
        <p:xfrm>
          <a:off x="457200" y="843558"/>
          <a:ext cx="8229240" cy="3680195"/>
        </p:xfrm>
        <a:graphic>
          <a:graphicData uri="http://schemas.openxmlformats.org/drawingml/2006/table">
            <a:tbl>
              <a:tblPr/>
              <a:tblGrid>
                <a:gridCol w="2057310">
                  <a:extLst>
                    <a:ext uri="{9D8B030D-6E8A-4147-A177-3AD203B41FA5}">
                      <a16:colId xmlns:a16="http://schemas.microsoft.com/office/drawing/2014/main" val="476759819"/>
                    </a:ext>
                  </a:extLst>
                </a:gridCol>
                <a:gridCol w="2057310">
                  <a:extLst>
                    <a:ext uri="{9D8B030D-6E8A-4147-A177-3AD203B41FA5}">
                      <a16:colId xmlns:a16="http://schemas.microsoft.com/office/drawing/2014/main" val="3769989801"/>
                    </a:ext>
                  </a:extLst>
                </a:gridCol>
                <a:gridCol w="2057310">
                  <a:extLst>
                    <a:ext uri="{9D8B030D-6E8A-4147-A177-3AD203B41FA5}">
                      <a16:colId xmlns:a16="http://schemas.microsoft.com/office/drawing/2014/main" val="2432168589"/>
                    </a:ext>
                  </a:extLst>
                </a:gridCol>
                <a:gridCol w="2057310">
                  <a:extLst>
                    <a:ext uri="{9D8B030D-6E8A-4147-A177-3AD203B41FA5}">
                      <a16:colId xmlns:a16="http://schemas.microsoft.com/office/drawing/2014/main" val="3304498861"/>
                    </a:ext>
                  </a:extLst>
                </a:gridCol>
              </a:tblGrid>
              <a:tr h="156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Core Dimension</a:t>
                      </a:r>
                    </a:p>
                  </a:txBody>
                  <a:tcPr marL="15700" marR="15700" marT="7850" marB="7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Perf Event (Physical/Statistical)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Valgrind Counter (Logical/Precise)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Correlation Analysis (Why it matters)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268830"/>
                  </a:ext>
                </a:extLst>
              </a:tr>
              <a:tr h="53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Compute Load</a:t>
                      </a:r>
                      <a:endParaRPr lang="de-DE" sz="900" dirty="0"/>
                    </a:p>
                  </a:txBody>
                  <a:tcPr marL="15700" marR="15700" marT="7850" marB="7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latin typeface="Courier New" panose="02070309020205020404" pitchFamily="49" charset="0"/>
                        </a:rPr>
                        <a:t>instructions</a:t>
                      </a:r>
                      <a:endParaRPr lang="de-DE" sz="900"/>
                    </a:p>
                  </a:txBody>
                  <a:tcPr marL="15700" marR="15700" marT="7850" marB="78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latin typeface="Courier New" panose="02070309020205020404" pitchFamily="49" charset="0"/>
                        </a:rPr>
                        <a:t>Ir</a:t>
                      </a:r>
                      <a:r>
                        <a:rPr lang="de-DE" sz="900"/>
                        <a:t> (Instruction Read)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Fundamental Overlap.</a:t>
                      </a:r>
                      <a:r>
                        <a:rPr lang="en-US" sz="900" dirty="0"/>
                        <a:t> HW-like might increase instruction count (e.g., extra </a:t>
                      </a:r>
                      <a:r>
                        <a:rPr lang="en-US" sz="900" dirty="0"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n-US" sz="900" dirty="0"/>
                        <a:t> statements to simulate hardware boundary checks), which directly worsens </a:t>
                      </a:r>
                      <a:r>
                        <a:rPr lang="en-US" sz="900" dirty="0" err="1"/>
                        <a:t>Valgrind's</a:t>
                      </a:r>
                      <a:r>
                        <a:rPr lang="en-US" sz="900" dirty="0"/>
                        <a:t> score.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369933"/>
                  </a:ext>
                </a:extLst>
              </a:tr>
              <a:tr h="156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L1 Access</a:t>
                      </a:r>
                      <a:endParaRPr lang="de-DE" sz="900" dirty="0"/>
                    </a:p>
                  </a:txBody>
                  <a:tcPr marL="15700" marR="15700" marT="7850" marB="7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latin typeface="Courier New" panose="02070309020205020404" pitchFamily="49" charset="0"/>
                        </a:rPr>
                        <a:t>L1-dcache-loads</a:t>
                      </a:r>
                      <a:endParaRPr lang="de-DE" sz="900"/>
                    </a:p>
                  </a:txBody>
                  <a:tcPr marL="15700" marR="15700" marT="7850" marB="7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latin typeface="Courier New" panose="02070309020205020404" pitchFamily="49" charset="0"/>
                        </a:rPr>
                        <a:t>D1r</a:t>
                      </a:r>
                      <a:r>
                        <a:rPr lang="en-US" sz="900"/>
                        <a:t> + </a:t>
                      </a:r>
                      <a:r>
                        <a:rPr lang="en-US" sz="900">
                          <a:latin typeface="Courier New" panose="02070309020205020404" pitchFamily="49" charset="0"/>
                        </a:rPr>
                        <a:t>D1w</a:t>
                      </a:r>
                      <a:r>
                        <a:rPr lang="en-US" sz="900"/>
                        <a:t> (Data Read + Write)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Describes the data intensity of the algorithm.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792347"/>
                  </a:ext>
                </a:extLst>
              </a:tr>
              <a:tr h="580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L1 Miss</a:t>
                      </a:r>
                      <a:endParaRPr lang="de-DE" sz="900" dirty="0"/>
                    </a:p>
                  </a:txBody>
                  <a:tcPr marL="15700" marR="15700" marT="7850" marB="7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latin typeface="Courier New" panose="02070309020205020404" pitchFamily="49" charset="0"/>
                        </a:rPr>
                        <a:t>L1-dcache-load-misses</a:t>
                      </a:r>
                      <a:endParaRPr lang="de-DE" sz="900"/>
                    </a:p>
                  </a:txBody>
                  <a:tcPr marL="15700" marR="15700" marT="7850" marB="7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latin typeface="Courier New" panose="02070309020205020404" pitchFamily="49" charset="0"/>
                        </a:rPr>
                        <a:t>D1mr</a:t>
                      </a:r>
                      <a:r>
                        <a:rPr lang="en-US" sz="900"/>
                        <a:t> + </a:t>
                      </a:r>
                      <a:r>
                        <a:rPr lang="en-US" sz="900">
                          <a:latin typeface="Courier New" panose="02070309020205020404" pitchFamily="49" charset="0"/>
                        </a:rPr>
                        <a:t>D1mw</a:t>
                      </a:r>
                      <a:r>
                        <a:rPr lang="en-US" sz="900"/>
                        <a:t> (Read/Write Miss)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Key Overlap.</a:t>
                      </a:r>
                      <a:r>
                        <a:rPr lang="en-US" sz="900"/>
                        <a:t> Valgrind assumes standard LRU. If the MAPE trend is opposite, it implies the CPU's hardware prefetcher is masking the poor access patterns of the HW-like config.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515232"/>
                  </a:ext>
                </a:extLst>
              </a:tr>
              <a:tr h="675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LLC Miss</a:t>
                      </a:r>
                      <a:endParaRPr lang="de-DE" sz="900"/>
                    </a:p>
                  </a:txBody>
                  <a:tcPr marL="15700" marR="15700" marT="7850" marB="7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>
                          <a:latin typeface="Courier New" panose="02070309020205020404" pitchFamily="49" charset="0"/>
                        </a:rPr>
                        <a:t>LLC-load-misses</a:t>
                      </a:r>
                      <a:endParaRPr lang="de-DE" sz="900" dirty="0"/>
                    </a:p>
                  </a:txBody>
                  <a:tcPr marL="15700" marR="15700" marT="7850" marB="7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latin typeface="Courier New" panose="02070309020205020404" pitchFamily="49" charset="0"/>
                        </a:rPr>
                        <a:t>LLmr</a:t>
                      </a:r>
                      <a:r>
                        <a:rPr lang="en-US" sz="900"/>
                        <a:t> + </a:t>
                      </a:r>
                      <a:r>
                        <a:rPr lang="en-US" sz="900">
                          <a:latin typeface="Courier New" panose="02070309020205020404" pitchFamily="49" charset="0"/>
                        </a:rPr>
                        <a:t>LLmw</a:t>
                      </a:r>
                      <a:r>
                        <a:rPr lang="en-US" sz="900"/>
                        <a:t> (Last Level Miss)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Reflects main memory bandwidth pressure. Hardware encoders usually have high bandwidth, but performance drops sharply in software simulation if cache hit rates are low.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76357"/>
                  </a:ext>
                </a:extLst>
              </a:tr>
              <a:tr h="580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Branches</a:t>
                      </a:r>
                      <a:endParaRPr lang="de-DE" sz="900"/>
                    </a:p>
                  </a:txBody>
                  <a:tcPr marL="15700" marR="15700" marT="7850" marB="7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>
                          <a:latin typeface="Courier New" panose="02070309020205020404" pitchFamily="49" charset="0"/>
                        </a:rPr>
                        <a:t>branches</a:t>
                      </a:r>
                      <a:endParaRPr lang="de-DE" sz="900" dirty="0"/>
                    </a:p>
                  </a:txBody>
                  <a:tcPr marL="15700" marR="15700" marT="7850" marB="7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>
                          <a:latin typeface="Courier New" panose="02070309020205020404" pitchFamily="49" charset="0"/>
                        </a:rPr>
                        <a:t>Bc</a:t>
                      </a:r>
                      <a:r>
                        <a:rPr lang="de-DE" sz="900" dirty="0"/>
                        <a:t> (Conditional Branches)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Source of Divergence.</a:t>
                      </a:r>
                      <a:r>
                        <a:rPr lang="en-US" sz="900" dirty="0"/>
                        <a:t> ASICs often lack "branches" (only pipelines). Software simulating this might paradoxically write </a:t>
                      </a:r>
                      <a:r>
                        <a:rPr lang="en-US" sz="900" i="1" dirty="0"/>
                        <a:t>more</a:t>
                      </a:r>
                      <a:r>
                        <a:rPr lang="en-US" sz="900" dirty="0"/>
                        <a:t> branch-intensive code.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510563"/>
                  </a:ext>
                </a:extLst>
              </a:tr>
              <a:tr h="298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Branch Misses</a:t>
                      </a:r>
                      <a:endParaRPr lang="de-DE" sz="900"/>
                    </a:p>
                  </a:txBody>
                  <a:tcPr marL="15700" marR="15700" marT="7850" marB="7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latin typeface="Courier New" panose="02070309020205020404" pitchFamily="49" charset="0"/>
                        </a:rPr>
                        <a:t>branch-misses</a:t>
                      </a:r>
                      <a:endParaRPr lang="de-DE" sz="900"/>
                    </a:p>
                  </a:txBody>
                  <a:tcPr marL="15700" marR="15700" marT="7850" marB="7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>
                          <a:latin typeface="Courier New" panose="02070309020205020404" pitchFamily="49" charset="0"/>
                        </a:rPr>
                        <a:t>Bcm</a:t>
                      </a:r>
                      <a:r>
                        <a:rPr lang="de-DE" sz="900" dirty="0"/>
                        <a:t> (Cond. Branch Misses)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 err="1"/>
                        <a:t>Valgrind's</a:t>
                      </a:r>
                      <a:r>
                        <a:rPr lang="en-US" sz="900" dirty="0"/>
                        <a:t> penalty for a miss is fixed, whereas a real CPU's predictor might be highly accurate.</a:t>
                      </a:r>
                    </a:p>
                  </a:txBody>
                  <a:tcPr marL="15700" marR="15700" marT="7850" marB="78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768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166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DF6B4-93F2-08B4-3BB7-6F31A3731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spc="-1" dirty="0">
                <a:solidFill>
                  <a:srgbClr val="CD3333"/>
                </a:solidFill>
                <a:latin typeface="MSAM10"/>
              </a:rPr>
              <a:t>▶</a:t>
            </a:r>
            <a:r>
              <a:rPr lang="en-US" altLang="zh-CN" sz="2400" spc="-1" dirty="0">
                <a:solidFill>
                  <a:srgbClr val="000000"/>
                </a:solidFill>
                <a:latin typeface="Calibri"/>
              </a:rPr>
              <a:t>Perf </a:t>
            </a:r>
            <a:r>
              <a:rPr lang="de-DE" altLang="zh-CN" sz="2400" spc="-1" dirty="0">
                <a:solidFill>
                  <a:srgbClr val="000000"/>
                </a:solidFill>
                <a:latin typeface="Calibri"/>
              </a:rPr>
              <a:t>Tools Setup:</a:t>
            </a:r>
            <a:br>
              <a:rPr lang="en-US" altLang="zh-CN" sz="2400" spc="-1" dirty="0">
                <a:solidFill>
                  <a:prstClr val="black"/>
                </a:solidFill>
              </a:rPr>
            </a:br>
            <a:endParaRPr lang="zh-CN" alt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48DE6-6460-3866-3164-34E9A3DB0A3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23528" y="843558"/>
            <a:ext cx="8229240" cy="1944216"/>
          </a:xfrm>
        </p:spPr>
        <p:txBody>
          <a:bodyPr/>
          <a:lstStyle/>
          <a:p>
            <a:r>
              <a:rPr lang="en-US" altLang="zh-CN" sz="1400" dirty="0"/>
              <a:t>To ensure the comparability of perf data, all experiments were forcibly scheduled to Intel Haswell [1-9] nodes via SLURM and run on a single microarchitecture</a:t>
            </a:r>
          </a:p>
          <a:p>
            <a:r>
              <a:rPr lang="en-US" altLang="zh-CN" sz="1400" dirty="0"/>
              <a:t>3 Configs:</a:t>
            </a:r>
          </a:p>
          <a:p>
            <a:pPr marL="457200" lvl="1" indent="0">
              <a:buNone/>
            </a:pPr>
            <a:r>
              <a:rPr lang="en-US" altLang="zh-CN" sz="1000" dirty="0"/>
              <a:t>default (Deblock: On, SAO: On) - x265 baseline</a:t>
            </a:r>
          </a:p>
          <a:p>
            <a:pPr marL="457200" lvl="1" indent="0">
              <a:buNone/>
            </a:pPr>
            <a:r>
              <a:rPr lang="en-US" altLang="zh-CN" sz="1000" dirty="0" err="1"/>
              <a:t>hwlike</a:t>
            </a:r>
            <a:r>
              <a:rPr lang="en-US" altLang="zh-CN" sz="1000" dirty="0"/>
              <a:t> (Deblock: Off, SAO: On) - Simulate hardware</a:t>
            </a:r>
          </a:p>
          <a:p>
            <a:pPr marL="457200" lvl="1" indent="0">
              <a:buNone/>
            </a:pPr>
            <a:r>
              <a:rPr lang="en-US" altLang="zh-CN" sz="1000" dirty="0" err="1"/>
              <a:t>disfilter</a:t>
            </a:r>
            <a:r>
              <a:rPr lang="en-US" altLang="zh-CN" sz="1000" dirty="0"/>
              <a:t> (Deblock: Off, SAO: Off) - Double-off baseline</a:t>
            </a:r>
          </a:p>
          <a:p>
            <a:pPr marL="457200" lvl="1" indent="0">
              <a:buNone/>
            </a:pPr>
            <a:endParaRPr lang="zh-CN" altLang="en-US" sz="1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A80C1C-4D3D-DBE8-16C0-69F9B7B91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873725"/>
              </p:ext>
            </p:extLst>
          </p:nvPr>
        </p:nvGraphicFramePr>
        <p:xfrm>
          <a:off x="532656" y="2427734"/>
          <a:ext cx="8283419" cy="2084864"/>
        </p:xfrm>
        <a:graphic>
          <a:graphicData uri="http://schemas.openxmlformats.org/drawingml/2006/table">
            <a:tbl>
              <a:tblPr/>
              <a:tblGrid>
                <a:gridCol w="960788">
                  <a:extLst>
                    <a:ext uri="{9D8B030D-6E8A-4147-A177-3AD203B41FA5}">
                      <a16:colId xmlns:a16="http://schemas.microsoft.com/office/drawing/2014/main" val="1637476792"/>
                    </a:ext>
                  </a:extLst>
                </a:gridCol>
                <a:gridCol w="889954">
                  <a:extLst>
                    <a:ext uri="{9D8B030D-6E8A-4147-A177-3AD203B41FA5}">
                      <a16:colId xmlns:a16="http://schemas.microsoft.com/office/drawing/2014/main" val="369787254"/>
                    </a:ext>
                  </a:extLst>
                </a:gridCol>
                <a:gridCol w="958412">
                  <a:extLst>
                    <a:ext uri="{9D8B030D-6E8A-4147-A177-3AD203B41FA5}">
                      <a16:colId xmlns:a16="http://schemas.microsoft.com/office/drawing/2014/main" val="954069013"/>
                    </a:ext>
                  </a:extLst>
                </a:gridCol>
                <a:gridCol w="5474265">
                  <a:extLst>
                    <a:ext uri="{9D8B030D-6E8A-4147-A177-3AD203B41FA5}">
                      <a16:colId xmlns:a16="http://schemas.microsoft.com/office/drawing/2014/main" val="501645255"/>
                    </a:ext>
                  </a:extLst>
                </a:gridCol>
              </a:tblGrid>
              <a:tr h="296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 dirty="0"/>
                        <a:t>Config</a:t>
                      </a:r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 dirty="0"/>
                        <a:t>SAO</a:t>
                      </a:r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 dirty="0"/>
                        <a:t>Deblock</a:t>
                      </a:r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 dirty="0"/>
                        <a:t>Description</a:t>
                      </a:r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918006"/>
                  </a:ext>
                </a:extLst>
              </a:tr>
              <a:tr h="459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 b="1"/>
                        <a:t>default</a:t>
                      </a:r>
                      <a:endParaRPr lang="de-DE" sz="1000"/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/>
                        <a:t>OFF</a:t>
                      </a:r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/>
                        <a:t>ON</a:t>
                      </a:r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Represents the standard x265 intra configuration, providing baseline complexity.</a:t>
                      </a:r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401315"/>
                  </a:ext>
                </a:extLst>
              </a:tr>
              <a:tr h="794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 b="1"/>
                        <a:t>disfilter</a:t>
                      </a:r>
                      <a:endParaRPr lang="de-DE" sz="1000"/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 b="1"/>
                        <a:t>OFF</a:t>
                      </a:r>
                      <a:endParaRPr lang="de-DE" sz="1000"/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 b="1"/>
                        <a:t>OFF</a:t>
                      </a:r>
                      <a:endParaRPr lang="de-DE" sz="1000"/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Disables both SAO and Deblocking, resulting in the simplest pipeline. This configuration exhibits the most deterministic instruction flow, but sequence-dependent texture variations cause larger relative fluctuations under a linear model.</a:t>
                      </a:r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069284"/>
                  </a:ext>
                </a:extLst>
              </a:tr>
              <a:tr h="534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 b="1"/>
                        <a:t>hwlike</a:t>
                      </a:r>
                      <a:endParaRPr lang="de-DE" sz="1000"/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 dirty="0"/>
                        <a:t>ON</a:t>
                      </a:r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/>
                        <a:t>OFF</a:t>
                      </a:r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Approximates typical behavior of hardware encoders such as NVIDIA NVENC, which often retain SAO while disabling Deblocking to reduce delay and power.</a:t>
                      </a:r>
                    </a:p>
                  </a:txBody>
                  <a:tcPr marL="28960" marR="28960" marT="14480" marB="14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412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473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103A3B-DAAC-C395-7BE4-867DEFF5E3A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72126"/>
          </a:xfrm>
        </p:spPr>
        <p:txBody>
          <a:bodyPr/>
          <a:lstStyle/>
          <a:p>
            <a:r>
              <a:rPr lang="en-US" altLang="zh-CN" sz="1600" dirty="0"/>
              <a:t>Model Performance Overview (Linear Regression MAPE)</a:t>
            </a:r>
          </a:p>
          <a:p>
            <a:endParaRPr lang="zh-CN" altLang="en-US" sz="1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C7CC79-9C39-4EED-6F9F-F8102B0E4CA5}"/>
              </a:ext>
            </a:extLst>
          </p:cNvPr>
          <p:cNvSpPr txBox="1">
            <a:spLocks/>
          </p:cNvSpPr>
          <p:nvPr/>
        </p:nvSpPr>
        <p:spPr>
          <a:xfrm>
            <a:off x="461597" y="267494"/>
            <a:ext cx="8229240" cy="50405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spc="-1" dirty="0">
                <a:solidFill>
                  <a:srgbClr val="CD3333"/>
                </a:solidFill>
                <a:latin typeface="MSAM10"/>
              </a:rPr>
              <a:t>▶</a:t>
            </a:r>
            <a:r>
              <a:rPr lang="en-US" altLang="zh-CN" sz="2400" spc="-1" dirty="0">
                <a:solidFill>
                  <a:srgbClr val="000000"/>
                </a:solidFill>
                <a:latin typeface="Calibri"/>
              </a:rPr>
              <a:t>Key Results</a:t>
            </a:r>
            <a:endParaRPr lang="zh-CN" altLang="en-US" sz="2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1FFD67-35C8-ED03-B0AE-D444CCAD0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028465"/>
              </p:ext>
            </p:extLst>
          </p:nvPr>
        </p:nvGraphicFramePr>
        <p:xfrm>
          <a:off x="457200" y="1355679"/>
          <a:ext cx="8229600" cy="12039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343592955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5093868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59882583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39948711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724446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dirty="0"/>
                        <a:t>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dirty="0"/>
                        <a:t>Filter State (Deblock / SAO)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dirty="0"/>
                        <a:t>Mixed Resolution (All-Res)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dirty="0"/>
                        <a:t>1080p (Only)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Improvement (Benefit of Control)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263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 dirty="0"/>
                        <a:t>default</a:t>
                      </a:r>
                      <a:endParaRPr lang="de-DE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/>
                        <a:t>ON / ON</a:t>
                      </a:r>
                      <a:endParaRPr lang="de-DE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/>
                        <a:t>16.13%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/>
                        <a:t>10.10%</a:t>
                      </a:r>
                      <a:r>
                        <a:rPr lang="de-DE" sz="1100"/>
                        <a:t> (Best)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6.03%</a:t>
                      </a:r>
                      <a:endParaRPr lang="zh-CN" alt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174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/>
                        <a:t>hwlike</a:t>
                      </a:r>
                      <a:endParaRPr lang="de-DE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/>
                        <a:t>OFF / 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/>
                        <a:t>14.76%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/>
                        <a:t>11.09%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/>
                        <a:t>3.67%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81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/>
                        <a:t>disfilter</a:t>
                      </a:r>
                      <a:endParaRPr lang="de-DE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dirty="0"/>
                        <a:t>OFF / 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 dirty="0"/>
                        <a:t>14.49%</a:t>
                      </a:r>
                      <a:endParaRPr lang="zh-CN" altLang="en-US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/>
                        <a:t>11.26% (Worst)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dirty="0"/>
                        <a:t>3.23%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54112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39FDDF5-3116-A433-BDE5-88C4DC383132}"/>
              </a:ext>
            </a:extLst>
          </p:cNvPr>
          <p:cNvSpPr txBox="1"/>
          <p:nvPr/>
        </p:nvSpPr>
        <p:spPr>
          <a:xfrm>
            <a:off x="440762" y="2787774"/>
            <a:ext cx="79476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200" b="1" dirty="0"/>
              <a:t>Data Interpretation:</a:t>
            </a:r>
            <a:endParaRPr lang="en-US" altLang="zh-CN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b="1" dirty="0"/>
              <a:t>Resolution Sensitivity:</a:t>
            </a:r>
            <a:r>
              <a:rPr lang="en-US" altLang="zh-CN" sz="1200" dirty="0"/>
              <a:t> All configurations show a drastic reduction in error after controlling for 1080p.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b="1" dirty="0"/>
              <a:t>Configuration Inversion:</a:t>
            </a:r>
            <a:r>
              <a:rPr lang="en-US" altLang="zh-CN" sz="1200" dirty="0"/>
              <a:t> At 1080p, the most complex </a:t>
            </a:r>
            <a:r>
              <a:rPr lang="en-US" altLang="zh-CN" sz="1200" dirty="0">
                <a:latin typeface="Courier New" panose="02070309020205020404" pitchFamily="49" charset="0"/>
              </a:rPr>
              <a:t>default</a:t>
            </a:r>
            <a:r>
              <a:rPr lang="en-US" altLang="zh-CN" sz="1200" dirty="0"/>
              <a:t> is the easiest to predict; whereas, in mixed resolution, the simplest </a:t>
            </a:r>
            <a:r>
              <a:rPr lang="en-US" altLang="zh-CN" sz="1200" b="1" dirty="0" err="1">
                <a:latin typeface="Book Antiqua" panose="02040602050305030304" pitchFamily="18" charset="0"/>
              </a:rPr>
              <a:t>disfilter</a:t>
            </a:r>
            <a:r>
              <a:rPr lang="en-US" altLang="zh-CN" sz="1200" dirty="0"/>
              <a:t> is the easiest to predict.</a:t>
            </a:r>
          </a:p>
        </p:txBody>
      </p:sp>
    </p:spTree>
    <p:extLst>
      <p:ext uri="{BB962C8B-B14F-4D97-AF65-F5344CB8AC3E}">
        <p14:creationId xmlns:p14="http://schemas.microsoft.com/office/powerpoint/2010/main" val="2838329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B243E-FAD4-C72C-831B-64D85F0E2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8CA864-B8D6-452D-C566-8E8DA97850D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915566"/>
            <a:ext cx="8229240" cy="3600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Feature Ablation Study (Based on All-Res Dataset, Config=default)</a:t>
            </a:r>
            <a:endParaRPr lang="zh-CN" altLang="en-US" sz="1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90AF8E-9F74-CBD7-F898-0894FABC00DE}"/>
              </a:ext>
            </a:extLst>
          </p:cNvPr>
          <p:cNvSpPr txBox="1">
            <a:spLocks/>
          </p:cNvSpPr>
          <p:nvPr/>
        </p:nvSpPr>
        <p:spPr>
          <a:xfrm>
            <a:off x="461597" y="267494"/>
            <a:ext cx="8229240" cy="50405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spc="-1" dirty="0">
                <a:solidFill>
                  <a:srgbClr val="CD3333"/>
                </a:solidFill>
                <a:latin typeface="MSAM10"/>
              </a:rPr>
              <a:t>▶</a:t>
            </a:r>
            <a:r>
              <a:rPr lang="en-US" altLang="zh-CN" sz="2400" spc="-1" dirty="0">
                <a:solidFill>
                  <a:srgbClr val="000000"/>
                </a:solidFill>
                <a:latin typeface="Calibri"/>
              </a:rPr>
              <a:t>Key Results</a:t>
            </a:r>
            <a:endParaRPr lang="zh-CN" altLang="en-US" sz="2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156BFD7-B036-FB2E-B52F-9CCE962C0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606068"/>
              </p:ext>
            </p:extLst>
          </p:nvPr>
        </p:nvGraphicFramePr>
        <p:xfrm>
          <a:off x="457199" y="1355679"/>
          <a:ext cx="7931224" cy="1889760"/>
        </p:xfrm>
        <a:graphic>
          <a:graphicData uri="http://schemas.openxmlformats.org/drawingml/2006/table">
            <a:tbl>
              <a:tblPr/>
              <a:tblGrid>
                <a:gridCol w="1982806">
                  <a:extLst>
                    <a:ext uri="{9D8B030D-6E8A-4147-A177-3AD203B41FA5}">
                      <a16:colId xmlns:a16="http://schemas.microsoft.com/office/drawing/2014/main" val="3435929552"/>
                    </a:ext>
                  </a:extLst>
                </a:gridCol>
                <a:gridCol w="1982806">
                  <a:extLst>
                    <a:ext uri="{9D8B030D-6E8A-4147-A177-3AD203B41FA5}">
                      <a16:colId xmlns:a16="http://schemas.microsoft.com/office/drawing/2014/main" val="3509386806"/>
                    </a:ext>
                  </a:extLst>
                </a:gridCol>
                <a:gridCol w="1982806">
                  <a:extLst>
                    <a:ext uri="{9D8B030D-6E8A-4147-A177-3AD203B41FA5}">
                      <a16:colId xmlns:a16="http://schemas.microsoft.com/office/drawing/2014/main" val="1598825835"/>
                    </a:ext>
                  </a:extLst>
                </a:gridCol>
                <a:gridCol w="1982806">
                  <a:extLst>
                    <a:ext uri="{9D8B030D-6E8A-4147-A177-3AD203B41FA5}">
                      <a16:colId xmlns:a16="http://schemas.microsoft.com/office/drawing/2014/main" val="23994871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dirty="0"/>
                        <a:t>Ablated Feature (Removed)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/>
                        <a:t>Model MAPE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/>
                        <a:t>Delta (vs All Features)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/>
                        <a:t>Statistical Conclusion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263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/>
                        <a:t>None (All Features)</a:t>
                      </a:r>
                      <a:endParaRPr lang="de-DE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16.13%</a:t>
                      </a:r>
                      <a:endParaRPr lang="zh-CN" alt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/>
                        <a:t>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174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/>
                        <a:t>All (Baseline)</a:t>
                      </a:r>
                      <a:endParaRPr lang="de-DE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/>
                        <a:t>30.39%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/>
                        <a:t>+14.26%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/>
                        <a:t>Blind Guess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81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/>
                        <a:t>Instructions</a:t>
                      </a:r>
                      <a:endParaRPr lang="de-DE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15.97%</a:t>
                      </a:r>
                      <a:endParaRPr lang="zh-CN" alt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/>
                        <a:t>-0.16%</a:t>
                      </a:r>
                      <a:r>
                        <a:rPr lang="de-DE" sz="1100"/>
                        <a:t> (Optimized)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/>
                        <a:t>High Collinearity (Redundant)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542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/>
                        <a:t>Cycles</a:t>
                      </a:r>
                      <a:endParaRPr lang="de-DE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15.97%</a:t>
                      </a:r>
                      <a:endParaRPr lang="zh-CN" alt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/>
                        <a:t>-0.16%</a:t>
                      </a:r>
                      <a:r>
                        <a:rPr lang="de-DE" sz="1100"/>
                        <a:t> (Optimized)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/>
                        <a:t>High Collinearity (Redundant)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8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b="1"/>
                        <a:t>Branch Instructions</a:t>
                      </a:r>
                      <a:endParaRPr lang="de-DE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/>
                        <a:t>16.33%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/>
                        <a:t>+0.20% (Worsened)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100" dirty="0"/>
                        <a:t>Contains Independent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541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0100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2FBB3-FABF-8B29-9335-F4E2F2A2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AF45B6-6FE2-47A4-68CA-47BC1CCE0A1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915566"/>
            <a:ext cx="8229240" cy="3600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zh-CN" sz="1600" dirty="0"/>
              <a:t>Preset </a:t>
            </a:r>
            <a:r>
              <a:rPr lang="en-US" altLang="zh-CN" sz="1600" dirty="0"/>
              <a:t>Universal vs. Specific Model Performance (1080p)</a:t>
            </a:r>
            <a:endParaRPr lang="zh-CN" altLang="en-US" sz="1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7FBCFF-F6C5-9991-B7FB-F3CCB6D336E0}"/>
              </a:ext>
            </a:extLst>
          </p:cNvPr>
          <p:cNvSpPr txBox="1">
            <a:spLocks/>
          </p:cNvSpPr>
          <p:nvPr/>
        </p:nvSpPr>
        <p:spPr>
          <a:xfrm>
            <a:off x="461597" y="267494"/>
            <a:ext cx="8229240" cy="50405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spc="-1" dirty="0">
                <a:solidFill>
                  <a:srgbClr val="CD3333"/>
                </a:solidFill>
                <a:latin typeface="MSAM10"/>
              </a:rPr>
              <a:t>▶</a:t>
            </a:r>
            <a:r>
              <a:rPr lang="en-US" altLang="zh-CN" sz="2400" spc="-1" dirty="0">
                <a:solidFill>
                  <a:srgbClr val="000000"/>
                </a:solidFill>
                <a:latin typeface="Calibri"/>
              </a:rPr>
              <a:t>Key Results</a:t>
            </a:r>
            <a:endParaRPr lang="zh-CN" alt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FF308C-2103-FBE2-7B60-6B1AEA937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275476"/>
              </p:ext>
            </p:extLst>
          </p:nvPr>
        </p:nvGraphicFramePr>
        <p:xfrm>
          <a:off x="755395" y="1275606"/>
          <a:ext cx="7931045" cy="3246359"/>
        </p:xfrm>
        <a:graphic>
          <a:graphicData uri="http://schemas.openxmlformats.org/drawingml/2006/table">
            <a:tbl>
              <a:tblPr/>
              <a:tblGrid>
                <a:gridCol w="1152310">
                  <a:extLst>
                    <a:ext uri="{9D8B030D-6E8A-4147-A177-3AD203B41FA5}">
                      <a16:colId xmlns:a16="http://schemas.microsoft.com/office/drawing/2014/main" val="241404777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7157918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740614264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254559737"/>
                    </a:ext>
                  </a:extLst>
                </a:gridCol>
                <a:gridCol w="1738175">
                  <a:extLst>
                    <a:ext uri="{9D8B030D-6E8A-4147-A177-3AD203B41FA5}">
                      <a16:colId xmlns:a16="http://schemas.microsoft.com/office/drawing/2014/main" val="3235076718"/>
                    </a:ext>
                  </a:extLst>
                </a:gridCol>
              </a:tblGrid>
              <a:tr h="45671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Configuration</a:t>
                      </a:r>
                      <a:endParaRPr lang="de-DE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Preset</a:t>
                      </a:r>
                      <a:endParaRPr lang="de-DE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Specific Model MAPE (n=88)</a:t>
                      </a:r>
                      <a:endParaRPr lang="de-DE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Universal Model MAPE (n=352)</a:t>
                      </a:r>
                      <a:endParaRPr lang="pt-BR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Benefit of Generalization</a:t>
                      </a:r>
                      <a:endParaRPr lang="de-DE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185871"/>
                  </a:ext>
                </a:extLst>
              </a:tr>
              <a:tr h="1998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default</a:t>
                      </a:r>
                      <a:endParaRPr lang="de-DE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fast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13.49%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10.10%</a:t>
                      </a: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-3.39%</a:t>
                      </a: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981327"/>
                  </a:ext>
                </a:extLst>
              </a:tr>
              <a:tr h="199812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faster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14.30%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10.10%</a:t>
                      </a: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-4.20%</a:t>
                      </a: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452893"/>
                  </a:ext>
                </a:extLst>
              </a:tr>
              <a:tr h="199812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superfast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13.55%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10.10%</a:t>
                      </a: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-3.45%</a:t>
                      </a: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925654"/>
                  </a:ext>
                </a:extLst>
              </a:tr>
              <a:tr h="199812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veryfast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13.60%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10.10%</a:t>
                      </a: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-3.50%</a:t>
                      </a: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840391"/>
                  </a:ext>
                </a:extLst>
              </a:tr>
              <a:tr h="1998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disfilter</a:t>
                      </a:r>
                      <a:endParaRPr lang="de-DE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fast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14.23%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11.26%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-2.97%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16873"/>
                  </a:ext>
                </a:extLst>
              </a:tr>
              <a:tr h="328263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faster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16.25%</a:t>
                      </a:r>
                      <a:r>
                        <a:rPr lang="de-DE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(High Volatility)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11.26%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-4.99%</a:t>
                      </a: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(Best Improvement)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932957"/>
                  </a:ext>
                </a:extLst>
              </a:tr>
              <a:tr h="199812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superfast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15.80%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11.26%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-4.54%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224477"/>
                  </a:ext>
                </a:extLst>
              </a:tr>
              <a:tr h="199812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veryfast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13.78%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11.26%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-2.52%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697711"/>
                  </a:ext>
                </a:extLst>
              </a:tr>
              <a:tr h="1998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hwlike</a:t>
                      </a:r>
                      <a:endParaRPr lang="de-DE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fast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11.70%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11.09%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-0.61%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943595"/>
                  </a:ext>
                </a:extLst>
              </a:tr>
              <a:tr h="199812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faster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13.82%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11.09%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-2.73%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306620"/>
                  </a:ext>
                </a:extLst>
              </a:tr>
              <a:tr h="199812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superfast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12.35%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11.09%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-1.26%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303776"/>
                  </a:ext>
                </a:extLst>
              </a:tr>
              <a:tr h="199812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veryfast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14.11%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11.09%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-3.02%</a:t>
                      </a:r>
                    </a:p>
                  </a:txBody>
                  <a:tcPr marL="53521" marR="53521" marT="35681" marB="3568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306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32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314AE-F546-DE47-CC76-EE8359479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76414B-33D2-064C-FF06-45F5BD34481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915566"/>
            <a:ext cx="8229240" cy="3600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zh-CN" sz="1600" dirty="0"/>
              <a:t>Preset </a:t>
            </a:r>
            <a:r>
              <a:rPr lang="en-US" altLang="zh-CN" sz="1600" dirty="0"/>
              <a:t>Universal vs. Specific Model Performance (All-Res)</a:t>
            </a:r>
            <a:endParaRPr lang="zh-CN" altLang="en-US" sz="1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3DD6E6C-61AE-59F5-DA2D-1C7CC8334630}"/>
              </a:ext>
            </a:extLst>
          </p:cNvPr>
          <p:cNvSpPr txBox="1">
            <a:spLocks/>
          </p:cNvSpPr>
          <p:nvPr/>
        </p:nvSpPr>
        <p:spPr>
          <a:xfrm>
            <a:off x="461597" y="267494"/>
            <a:ext cx="8229240" cy="50405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spc="-1" dirty="0">
                <a:solidFill>
                  <a:srgbClr val="CD3333"/>
                </a:solidFill>
                <a:latin typeface="MSAM10"/>
              </a:rPr>
              <a:t>▶</a:t>
            </a:r>
            <a:r>
              <a:rPr lang="en-US" altLang="zh-CN" sz="2400" spc="-1" dirty="0">
                <a:solidFill>
                  <a:srgbClr val="000000"/>
                </a:solidFill>
                <a:latin typeface="Calibri"/>
              </a:rPr>
              <a:t>Key Results</a:t>
            </a:r>
            <a:endParaRPr lang="zh-CN" alt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407CDB-7688-2FFC-01C3-51A327B3A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924516"/>
              </p:ext>
            </p:extLst>
          </p:nvPr>
        </p:nvGraphicFramePr>
        <p:xfrm>
          <a:off x="539552" y="1275606"/>
          <a:ext cx="8229240" cy="3230880"/>
        </p:xfrm>
        <a:graphic>
          <a:graphicData uri="http://schemas.openxmlformats.org/drawingml/2006/table">
            <a:tbl>
              <a:tblPr/>
              <a:tblGrid>
                <a:gridCol w="1195636">
                  <a:extLst>
                    <a:ext uri="{9D8B030D-6E8A-4147-A177-3AD203B41FA5}">
                      <a16:colId xmlns:a16="http://schemas.microsoft.com/office/drawing/2014/main" val="2414047778"/>
                    </a:ext>
                  </a:extLst>
                </a:gridCol>
                <a:gridCol w="1344876">
                  <a:extLst>
                    <a:ext uri="{9D8B030D-6E8A-4147-A177-3AD203B41FA5}">
                      <a16:colId xmlns:a16="http://schemas.microsoft.com/office/drawing/2014/main" val="171579181"/>
                    </a:ext>
                  </a:extLst>
                </a:gridCol>
                <a:gridCol w="1867885">
                  <a:extLst>
                    <a:ext uri="{9D8B030D-6E8A-4147-A177-3AD203B41FA5}">
                      <a16:colId xmlns:a16="http://schemas.microsoft.com/office/drawing/2014/main" val="2740614264"/>
                    </a:ext>
                  </a:extLst>
                </a:gridCol>
                <a:gridCol w="2017315">
                  <a:extLst>
                    <a:ext uri="{9D8B030D-6E8A-4147-A177-3AD203B41FA5}">
                      <a16:colId xmlns:a16="http://schemas.microsoft.com/office/drawing/2014/main" val="2254559737"/>
                    </a:ext>
                  </a:extLst>
                </a:gridCol>
                <a:gridCol w="1803528">
                  <a:extLst>
                    <a:ext uri="{9D8B030D-6E8A-4147-A177-3AD203B41FA5}">
                      <a16:colId xmlns:a16="http://schemas.microsoft.com/office/drawing/2014/main" val="3235076718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Configuration</a:t>
                      </a:r>
                      <a:endParaRPr lang="de-DE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Preset</a:t>
                      </a:r>
                      <a:endParaRPr lang="de-DE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Specific Model MAPE (n=120)</a:t>
                      </a:r>
                      <a:endParaRPr lang="de-DE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Universal Model MAPE (n=480)</a:t>
                      </a:r>
                      <a:endParaRPr lang="pt-BR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Benefit of Generalization</a:t>
                      </a:r>
                      <a:endParaRPr lang="de-DE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1858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default</a:t>
                      </a:r>
                      <a:endParaRPr lang="de-DE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18.15%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16.13%</a:t>
                      </a: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-2.02%</a:t>
                      </a: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981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faster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17.24%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16.13%</a:t>
                      </a: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-1.11%</a:t>
                      </a: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45289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superfast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17.59%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16.13%</a:t>
                      </a: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-1.46%</a:t>
                      </a: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92565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veryfast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17.29%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16.13%</a:t>
                      </a:r>
                      <a:endParaRPr lang="zh-CN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-1.16%</a:t>
                      </a:r>
                      <a:endParaRPr lang="zh-CN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84039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disfilter</a:t>
                      </a:r>
                      <a:endParaRPr lang="de-DE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14.69%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14.49%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-0.20%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1687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faster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17.40%</a:t>
                      </a:r>
                      <a:r>
                        <a:rPr lang="de-DE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(High Error)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14.49%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-2.91%</a:t>
                      </a: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(Significant Drop)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93295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superfast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16.55%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14.49%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-2.06%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22447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veryfast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17.35%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14.49%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-2.86%</a:t>
                      </a:r>
                      <a:endParaRPr lang="zh-CN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6977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hwlike</a:t>
                      </a:r>
                      <a:endParaRPr lang="de-DE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15.11%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14.76%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-0.35%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943595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faster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17.04%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14.76%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-2.28%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30662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superfast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16.83%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14.76%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-2.07%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30377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veryfast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17.85%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14.76%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-3.09%</a:t>
                      </a:r>
                      <a:endParaRPr lang="zh-CN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306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586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4A994-9AF9-1CA0-E3C8-4A8DFB576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200"/>
            <a:ext cx="6923112" cy="422334"/>
          </a:xfrm>
        </p:spPr>
        <p:txBody>
          <a:bodyPr/>
          <a:lstStyle/>
          <a:p>
            <a:r>
              <a:rPr lang="en-US" altLang="zh-CN" sz="2400" dirty="0"/>
              <a:t>Energy Modeling based on PEs</a:t>
            </a:r>
            <a:endParaRPr lang="zh-CN" alt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7AD55-719B-FC65-1735-2B3F4743E66D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C988E7-54DB-9538-FD05-105FAE27C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500"/>
            <a:ext cx="914400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75337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19652</TotalTime>
  <Words>5106</Words>
  <Application>Microsoft Office PowerPoint</Application>
  <PresentationFormat>On-screen Show (16:9)</PresentationFormat>
  <Paragraphs>2195</Paragraphs>
  <Slides>32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Google Sans Text</vt:lpstr>
      <vt:lpstr>MSAM10</vt:lpstr>
      <vt:lpstr>等线</vt:lpstr>
      <vt:lpstr>Arial</vt:lpstr>
      <vt:lpstr>Book Antiqua</vt:lpstr>
      <vt:lpstr>Calibri</vt:lpstr>
      <vt:lpstr>Courier New</vt:lpstr>
      <vt:lpstr>Symbol</vt:lpstr>
      <vt:lpstr>Wingdings</vt:lpstr>
      <vt:lpstr>Larissa</vt:lpstr>
      <vt:lpstr>Benutzerdefiniertes Design</vt:lpstr>
      <vt:lpstr>Office Theme</vt:lpstr>
      <vt:lpstr>Master Thesis - Update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Explanation: Why superfast shows the lowest values for most PEs but the highest D1mr </vt:lpstr>
      <vt:lpstr>Explanation: Why superfast shows the lowest values for most PEs but the highest D1mr </vt:lpstr>
      <vt:lpstr>PowerPoint Presentation</vt:lpstr>
      <vt:lpstr>PowerPoint Presentation</vt:lpstr>
      <vt:lpstr>PowerPoint Presentation</vt:lpstr>
      <vt:lpstr>callgrind_features_mean</vt:lpstr>
      <vt:lpstr>'Perf Basic' vs. 'Perf Extended'</vt:lpstr>
      <vt:lpstr>PowerPoint Presentation</vt:lpstr>
      <vt:lpstr>PowerPoint Presentation</vt:lpstr>
      <vt:lpstr>CPU Architecture Comparison：AMD vs Intel</vt:lpstr>
      <vt:lpstr>The Overlap of valgrind &amp; perf</vt:lpstr>
      <vt:lpstr>▶Perf Tools Setup: </vt:lpstr>
      <vt:lpstr>PowerPoint Presentation</vt:lpstr>
      <vt:lpstr>PowerPoint Presentation</vt:lpstr>
      <vt:lpstr>PowerPoint Presentation</vt:lpstr>
      <vt:lpstr>PowerPoint Presentation</vt:lpstr>
      <vt:lpstr>Energy Modeling based on 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Anna</dc:creator>
  <cp:lastModifiedBy>韵 尚</cp:lastModifiedBy>
  <cp:revision>30</cp:revision>
  <dcterms:created xsi:type="dcterms:W3CDTF">2014-04-16T13:22:23Z</dcterms:created>
  <dcterms:modified xsi:type="dcterms:W3CDTF">2025-11-18T15:10:27Z</dcterms:modified>
</cp:coreProperties>
</file>